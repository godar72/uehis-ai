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4" d="100"/>
          <a:sy n="114" d="100"/>
        </p:scale>
        <p:origin x="125" y="1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A211F"/>
                </a:solidFill>
                <a:latin typeface="Calibri"/>
              </a:defRPr>
            </a:pPr>
            <a:r>
              <a:rPr lang="sv-SE" sz="1300" b="0" i="0" u="none" strike="noStrike">
                <a:solidFill>
                  <a:srgbClr val="1A211F"/>
                </a:solidFill>
                <a:latin typeface="Calibri"/>
              </a:rPr>
              <a:t>Blocks per Risk Tier (n = 256)</a:t>
            </a:r>
          </a:p>
        </c:rich>
      </c:tx>
      <c:overlay val="0"/>
    </c:title>
    <c:autoTitleDeleted val="0"/>
    <c:plotArea>
      <c:layout/>
      <c:barChart>
        <c:barDir val="col"/>
        <c:grouping val="clustered"/>
        <c:varyColors val="0"/>
        <c:ser>
          <c:idx val="0"/>
          <c:order val="0"/>
          <c:tx>
            <c:strRef>
              <c:f>Sheet1!$B$1</c:f>
              <c:strCache>
                <c:ptCount val="1"/>
                <c:pt idx="0">
                  <c:v>Blocks</c:v>
                </c:pt>
              </c:strCache>
            </c:strRef>
          </c:tx>
          <c:spPr>
            <a:solidFill>
              <a:srgbClr val="E8622C"/>
            </a:solidFill>
            <a:effectLst/>
          </c:spPr>
          <c:invertIfNegative val="0"/>
          <c:dLbls>
            <c:numFmt formatCode="#,##0" sourceLinked="0"/>
            <c:spPr>
              <a:noFill/>
              <a:ln>
                <a:noFill/>
              </a:ln>
              <a:effectLst/>
            </c:spPr>
            <c:txPr>
              <a:bodyPr/>
              <a:lstStyle/>
              <a:p>
                <a:pPr>
                  <a:defRPr sz="1200" b="0" i="0" u="none" strike="noStrike">
                    <a:solidFill>
                      <a:srgbClr val="1A211F"/>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Critical</c:v>
                </c:pt>
                <c:pt idx="1">
                  <c:v>High</c:v>
                </c:pt>
                <c:pt idx="2">
                  <c:v>Moderate</c:v>
                </c:pt>
                <c:pt idx="3">
                  <c:v>Low</c:v>
                </c:pt>
              </c:strCache>
            </c:strRef>
          </c:cat>
          <c:val>
            <c:numRef>
              <c:f>Sheet1!$B$2:$B$5</c:f>
              <c:numCache>
                <c:formatCode>General</c:formatCode>
                <c:ptCount val="4"/>
                <c:pt idx="0">
                  <c:v>49</c:v>
                </c:pt>
                <c:pt idx="1">
                  <c:v>85</c:v>
                </c:pt>
                <c:pt idx="2">
                  <c:v>101</c:v>
                </c:pt>
                <c:pt idx="3">
                  <c:v>21</c:v>
                </c:pt>
              </c:numCache>
            </c:numRef>
          </c:val>
          <c:extLst>
            <c:ext xmlns:c16="http://schemas.microsoft.com/office/drawing/2014/chart" uri="{C3380CC4-5D6E-409C-BE32-E72D297353CC}">
              <c16:uniqueId val="{00000000-CC4F-4702-8E6C-A439279FE4C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66"/>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4074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4D3D"/>
        </a:solidFill>
        <a:effectLst/>
      </p:bgPr>
    </p:bg>
    <p:spTree>
      <p:nvGrpSpPr>
        <p:cNvPr id="1" name=""/>
        <p:cNvGrpSpPr/>
        <p:nvPr/>
      </p:nvGrpSpPr>
      <p:grpSpPr>
        <a:xfrm>
          <a:off x="0" y="0"/>
          <a:ext cx="0" cy="0"/>
          <a:chOff x="0" y="0"/>
          <a:chExt cx="0" cy="0"/>
        </a:xfrm>
      </p:grpSpPr>
      <p:sp>
        <p:nvSpPr>
          <p:cNvPr id="2" name="Shape 0"/>
          <p:cNvSpPr/>
          <p:nvPr/>
        </p:nvSpPr>
        <p:spPr>
          <a:xfrm>
            <a:off x="9692640" y="-2011680"/>
            <a:ext cx="5943600" cy="5943600"/>
          </a:xfrm>
          <a:prstGeom prst="ellipse">
            <a:avLst/>
          </a:prstGeom>
          <a:solidFill>
            <a:srgbClr val="356E59">
              <a:alpha val="60000"/>
            </a:srgbClr>
          </a:solidFill>
          <a:ln/>
        </p:spPr>
      </p:sp>
      <p:sp>
        <p:nvSpPr>
          <p:cNvPr id="3" name="Shape 1"/>
          <p:cNvSpPr/>
          <p:nvPr/>
        </p:nvSpPr>
        <p:spPr>
          <a:xfrm>
            <a:off x="-2194560" y="4206240"/>
            <a:ext cx="5029200" cy="5029200"/>
          </a:xfrm>
          <a:prstGeom prst="ellipse">
            <a:avLst/>
          </a:prstGeom>
          <a:solidFill>
            <a:srgbClr val="4E9C77">
              <a:alpha val="12000"/>
            </a:srgbClr>
          </a:solidFill>
          <a:ln/>
        </p:spPr>
      </p:sp>
      <p:sp>
        <p:nvSpPr>
          <p:cNvPr id="4" name="Text 2"/>
          <p:cNvSpPr/>
          <p:nvPr/>
        </p:nvSpPr>
        <p:spPr>
          <a:xfrm>
            <a:off x="822960" y="685800"/>
            <a:ext cx="8229600" cy="365760"/>
          </a:xfrm>
          <a:prstGeom prst="rect">
            <a:avLst/>
          </a:prstGeom>
          <a:noFill/>
          <a:ln/>
        </p:spPr>
        <p:txBody>
          <a:bodyPr wrap="square" rtlCol="0" anchor="ctr"/>
          <a:lstStyle/>
          <a:p>
            <a:pPr marL="0" indent="0">
              <a:buNone/>
            </a:pPr>
            <a:r>
              <a:rPr lang="en-US" sz="1250" b="1" kern="0" spc="250" dirty="0">
                <a:solidFill>
                  <a:srgbClr val="E8622C"/>
                </a:solidFill>
                <a:latin typeface="Calibri" pitchFamily="34" charset="0"/>
                <a:ea typeface="Calibri" pitchFamily="34" charset="-122"/>
                <a:cs typeface="Calibri" pitchFamily="34" charset="-120"/>
              </a:rPr>
              <a:t>CA-2 PROJECT REVIEW  •  SERVICE-LEARNING EVALUATION II</a:t>
            </a:r>
            <a:endParaRPr lang="en-US" sz="1250" dirty="0"/>
          </a:p>
        </p:txBody>
      </p:sp>
      <p:sp>
        <p:nvSpPr>
          <p:cNvPr id="5" name="Text 3"/>
          <p:cNvSpPr/>
          <p:nvPr/>
        </p:nvSpPr>
        <p:spPr>
          <a:xfrm>
            <a:off x="777240" y="1234440"/>
            <a:ext cx="8686800" cy="1371600"/>
          </a:xfrm>
          <a:prstGeom prst="rect">
            <a:avLst/>
          </a:prstGeom>
          <a:noFill/>
          <a:ln/>
        </p:spPr>
        <p:txBody>
          <a:bodyPr wrap="square" rtlCol="0" anchor="ctr"/>
          <a:lstStyle/>
          <a:p>
            <a:pPr marL="0" indent="0">
              <a:buNone/>
            </a:pPr>
            <a:r>
              <a:rPr lang="en-US" sz="6600" b="1" dirty="0">
                <a:solidFill>
                  <a:srgbClr val="FFFFFF"/>
                </a:solidFill>
                <a:latin typeface="Cambria" pitchFamily="34" charset="0"/>
                <a:ea typeface="Cambria" pitchFamily="34" charset="-122"/>
                <a:cs typeface="Cambria" pitchFamily="34" charset="-120"/>
              </a:rPr>
              <a:t>UEHIS</a:t>
            </a:r>
            <a:endParaRPr lang="en-US" sz="6600" dirty="0"/>
          </a:p>
        </p:txBody>
      </p:sp>
      <p:sp>
        <p:nvSpPr>
          <p:cNvPr id="6" name="Text 4"/>
          <p:cNvSpPr/>
          <p:nvPr/>
        </p:nvSpPr>
        <p:spPr>
          <a:xfrm>
            <a:off x="822960" y="2514600"/>
            <a:ext cx="7863840" cy="502920"/>
          </a:xfrm>
          <a:prstGeom prst="rect">
            <a:avLst/>
          </a:prstGeom>
          <a:noFill/>
          <a:ln/>
        </p:spPr>
        <p:txBody>
          <a:bodyPr wrap="square" rtlCol="0" anchor="ctr"/>
          <a:lstStyle/>
          <a:p>
            <a:pPr marL="0" indent="0">
              <a:buNone/>
            </a:pPr>
            <a:r>
              <a:rPr lang="en-US" sz="2000" i="1" dirty="0">
                <a:solidFill>
                  <a:srgbClr val="8FC1A8"/>
                </a:solidFill>
                <a:latin typeface="Calibri" pitchFamily="34" charset="0"/>
                <a:ea typeface="Calibri" pitchFamily="34" charset="-122"/>
                <a:cs typeface="Calibri" pitchFamily="34" charset="-120"/>
              </a:rPr>
              <a:t>AI-Based Urban Ecosystem Health Intelligence System</a:t>
            </a:r>
            <a:endParaRPr lang="en-US" sz="2000" dirty="0"/>
          </a:p>
        </p:txBody>
      </p:sp>
      <p:sp>
        <p:nvSpPr>
          <p:cNvPr id="7" name="Text 5"/>
          <p:cNvSpPr/>
          <p:nvPr/>
        </p:nvSpPr>
        <p:spPr>
          <a:xfrm>
            <a:off x="822960" y="3063240"/>
            <a:ext cx="7498080" cy="640080"/>
          </a:xfrm>
          <a:prstGeom prst="rect">
            <a:avLst/>
          </a:prstGeom>
          <a:noFill/>
          <a:ln/>
        </p:spPr>
        <p:txBody>
          <a:bodyPr wrap="square" rtlCol="0" anchor="ctr"/>
          <a:lstStyle/>
          <a:p>
            <a:pPr marL="0" indent="0">
              <a:buNone/>
            </a:pPr>
            <a:r>
              <a:rPr lang="en-US" sz="1300" dirty="0">
                <a:solidFill>
                  <a:srgbClr val="C7D3CF"/>
                </a:solidFill>
                <a:latin typeface="Calibri" pitchFamily="34" charset="0"/>
                <a:ea typeface="Calibri" pitchFamily="34" charset="-122"/>
                <a:cs typeface="Calibri" pitchFamily="34" charset="-120"/>
              </a:rPr>
              <a:t>Geospatial analytics for urban heat-island intensity, ecological vulnerability, and carbon-sink planning — built with SEER Bharat Foundation</a:t>
            </a:r>
            <a:endParaRPr lang="en-US" sz="1300" dirty="0"/>
          </a:p>
        </p:txBody>
      </p:sp>
      <p:pic>
        <p:nvPicPr>
          <p:cNvPr id="8" name="Image 0" descr="assets/team_photo.jpeg"/>
          <p:cNvPicPr>
            <a:picLocks noChangeAspect="1"/>
          </p:cNvPicPr>
          <p:nvPr/>
        </p:nvPicPr>
        <p:blipFill>
          <a:blip r:embed="rId3"/>
          <a:srcRect/>
          <a:stretch/>
        </p:blipFill>
        <p:spPr>
          <a:xfrm>
            <a:off x="8549640" y="624254"/>
            <a:ext cx="2834640" cy="3783154"/>
          </a:xfrm>
          <a:prstGeom prst="rect">
            <a:avLst/>
          </a:prstGeom>
        </p:spPr>
      </p:pic>
      <p:sp>
        <p:nvSpPr>
          <p:cNvPr id="9" name="Shape 6"/>
          <p:cNvSpPr/>
          <p:nvPr/>
        </p:nvSpPr>
        <p:spPr>
          <a:xfrm>
            <a:off x="8549640" y="624254"/>
            <a:ext cx="2834640" cy="3783154"/>
          </a:xfrm>
          <a:prstGeom prst="rect">
            <a:avLst/>
          </a:prstGeom>
          <a:ln w="25400">
            <a:solidFill>
              <a:srgbClr val="356E59"/>
            </a:solidFill>
            <a:prstDash val="solid"/>
          </a:ln>
        </p:spPr>
      </p:sp>
      <p:sp>
        <p:nvSpPr>
          <p:cNvPr id="10" name="Shape 7"/>
          <p:cNvSpPr/>
          <p:nvPr/>
        </p:nvSpPr>
        <p:spPr>
          <a:xfrm>
            <a:off x="822960" y="5074920"/>
            <a:ext cx="2606040" cy="960120"/>
          </a:xfrm>
          <a:prstGeom prst="rect">
            <a:avLst/>
          </a:prstGeom>
          <a:solidFill>
            <a:srgbClr val="2A5F4C"/>
          </a:solidFill>
          <a:ln/>
        </p:spPr>
      </p:sp>
      <p:sp>
        <p:nvSpPr>
          <p:cNvPr id="11" name="Text 8"/>
          <p:cNvSpPr/>
          <p:nvPr/>
        </p:nvSpPr>
        <p:spPr>
          <a:xfrm>
            <a:off x="987552" y="5193792"/>
            <a:ext cx="2276856" cy="36576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Aditya Sengar</a:t>
            </a:r>
            <a:endParaRPr lang="en-US" sz="1350" dirty="0"/>
          </a:p>
        </p:txBody>
      </p:sp>
      <p:sp>
        <p:nvSpPr>
          <p:cNvPr id="12" name="Text 9"/>
          <p:cNvSpPr/>
          <p:nvPr/>
        </p:nvSpPr>
        <p:spPr>
          <a:xfrm>
            <a:off x="987552" y="5577840"/>
            <a:ext cx="2276856" cy="320040"/>
          </a:xfrm>
          <a:prstGeom prst="rect">
            <a:avLst/>
          </a:prstGeom>
          <a:noFill/>
          <a:ln/>
        </p:spPr>
        <p:txBody>
          <a:bodyPr wrap="square" rtlCol="0" anchor="ctr"/>
          <a:lstStyle/>
          <a:p>
            <a:pPr marL="0" indent="0">
              <a:buNone/>
            </a:pPr>
            <a:r>
              <a:rPr lang="en-US" sz="1100" dirty="0">
                <a:solidFill>
                  <a:srgbClr val="9FB3AD"/>
                </a:solidFill>
                <a:latin typeface="Calibri" pitchFamily="34" charset="0"/>
                <a:ea typeface="Calibri" pitchFamily="34" charset="-122"/>
                <a:cs typeface="Calibri" pitchFamily="34" charset="-120"/>
              </a:rPr>
              <a:t>24070126018</a:t>
            </a:r>
            <a:endParaRPr lang="en-US" sz="1100" dirty="0"/>
          </a:p>
        </p:txBody>
      </p:sp>
      <p:sp>
        <p:nvSpPr>
          <p:cNvPr id="13" name="Shape 10"/>
          <p:cNvSpPr/>
          <p:nvPr/>
        </p:nvSpPr>
        <p:spPr>
          <a:xfrm>
            <a:off x="3657600" y="5074920"/>
            <a:ext cx="2606040" cy="960120"/>
          </a:xfrm>
          <a:prstGeom prst="rect">
            <a:avLst/>
          </a:prstGeom>
          <a:solidFill>
            <a:srgbClr val="2A5F4C"/>
          </a:solidFill>
          <a:ln/>
        </p:spPr>
      </p:sp>
      <p:sp>
        <p:nvSpPr>
          <p:cNvPr id="14" name="Text 11"/>
          <p:cNvSpPr/>
          <p:nvPr/>
        </p:nvSpPr>
        <p:spPr>
          <a:xfrm>
            <a:off x="3822192" y="5193792"/>
            <a:ext cx="2276856" cy="36576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Aditya Godar</a:t>
            </a:r>
            <a:endParaRPr lang="en-US" sz="1350" dirty="0"/>
          </a:p>
        </p:txBody>
      </p:sp>
      <p:sp>
        <p:nvSpPr>
          <p:cNvPr id="15" name="Text 12"/>
          <p:cNvSpPr/>
          <p:nvPr/>
        </p:nvSpPr>
        <p:spPr>
          <a:xfrm>
            <a:off x="3822192" y="5577840"/>
            <a:ext cx="2276856" cy="320040"/>
          </a:xfrm>
          <a:prstGeom prst="rect">
            <a:avLst/>
          </a:prstGeom>
          <a:noFill/>
          <a:ln/>
        </p:spPr>
        <p:txBody>
          <a:bodyPr wrap="square" rtlCol="0" anchor="ctr"/>
          <a:lstStyle/>
          <a:p>
            <a:pPr marL="0" indent="0">
              <a:buNone/>
            </a:pPr>
            <a:r>
              <a:rPr lang="en-US" sz="1100" dirty="0">
                <a:solidFill>
                  <a:srgbClr val="9FB3AD"/>
                </a:solidFill>
                <a:latin typeface="Calibri" pitchFamily="34" charset="0"/>
                <a:ea typeface="Calibri" pitchFamily="34" charset="-122"/>
                <a:cs typeface="Calibri" pitchFamily="34" charset="-120"/>
              </a:rPr>
              <a:t>24070126014</a:t>
            </a:r>
            <a:endParaRPr lang="en-US" sz="1100" dirty="0"/>
          </a:p>
        </p:txBody>
      </p:sp>
      <p:sp>
        <p:nvSpPr>
          <p:cNvPr id="16" name="Shape 13"/>
          <p:cNvSpPr/>
          <p:nvPr/>
        </p:nvSpPr>
        <p:spPr>
          <a:xfrm>
            <a:off x="6492240" y="5074920"/>
            <a:ext cx="2606040" cy="960120"/>
          </a:xfrm>
          <a:prstGeom prst="rect">
            <a:avLst/>
          </a:prstGeom>
          <a:solidFill>
            <a:srgbClr val="2A5F4C"/>
          </a:solidFill>
          <a:ln/>
        </p:spPr>
      </p:sp>
      <p:sp>
        <p:nvSpPr>
          <p:cNvPr id="17" name="Text 14"/>
          <p:cNvSpPr/>
          <p:nvPr/>
        </p:nvSpPr>
        <p:spPr>
          <a:xfrm>
            <a:off x="6656832" y="5193792"/>
            <a:ext cx="2276856" cy="36576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Abhay Mosaita</a:t>
            </a:r>
            <a:endParaRPr lang="en-US" sz="1350" dirty="0"/>
          </a:p>
        </p:txBody>
      </p:sp>
      <p:sp>
        <p:nvSpPr>
          <p:cNvPr id="18" name="Text 15"/>
          <p:cNvSpPr/>
          <p:nvPr/>
        </p:nvSpPr>
        <p:spPr>
          <a:xfrm>
            <a:off x="6656832" y="5577840"/>
            <a:ext cx="2276856" cy="320040"/>
          </a:xfrm>
          <a:prstGeom prst="rect">
            <a:avLst/>
          </a:prstGeom>
          <a:noFill/>
          <a:ln/>
        </p:spPr>
        <p:txBody>
          <a:bodyPr wrap="square" rtlCol="0" anchor="ctr"/>
          <a:lstStyle/>
          <a:p>
            <a:pPr marL="0" indent="0">
              <a:buNone/>
            </a:pPr>
            <a:r>
              <a:rPr lang="en-US" sz="1100" dirty="0">
                <a:solidFill>
                  <a:srgbClr val="9FB3AD"/>
                </a:solidFill>
                <a:latin typeface="Calibri" pitchFamily="34" charset="0"/>
                <a:ea typeface="Calibri" pitchFamily="34" charset="-122"/>
                <a:cs typeface="Calibri" pitchFamily="34" charset="-120"/>
              </a:rPr>
              <a:t>24070126007</a:t>
            </a:r>
            <a:endParaRPr lang="en-US" sz="1100" dirty="0"/>
          </a:p>
        </p:txBody>
      </p:sp>
      <p:sp>
        <p:nvSpPr>
          <p:cNvPr id="19" name="Shape 16"/>
          <p:cNvSpPr/>
          <p:nvPr/>
        </p:nvSpPr>
        <p:spPr>
          <a:xfrm>
            <a:off x="9326880" y="5074920"/>
            <a:ext cx="2606040" cy="960120"/>
          </a:xfrm>
          <a:prstGeom prst="rect">
            <a:avLst/>
          </a:prstGeom>
          <a:solidFill>
            <a:srgbClr val="2A5F4C"/>
          </a:solidFill>
          <a:ln/>
        </p:spPr>
      </p:sp>
      <p:sp>
        <p:nvSpPr>
          <p:cNvPr id="20" name="Text 17"/>
          <p:cNvSpPr/>
          <p:nvPr/>
        </p:nvSpPr>
        <p:spPr>
          <a:xfrm>
            <a:off x="9491472" y="5193792"/>
            <a:ext cx="2276856" cy="36576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Abhay Chaturvedi</a:t>
            </a:r>
            <a:endParaRPr lang="en-US" sz="1350" dirty="0"/>
          </a:p>
        </p:txBody>
      </p:sp>
      <p:sp>
        <p:nvSpPr>
          <p:cNvPr id="21" name="Text 18"/>
          <p:cNvSpPr/>
          <p:nvPr/>
        </p:nvSpPr>
        <p:spPr>
          <a:xfrm>
            <a:off x="9491472" y="5577840"/>
            <a:ext cx="2276856" cy="320040"/>
          </a:xfrm>
          <a:prstGeom prst="rect">
            <a:avLst/>
          </a:prstGeom>
          <a:noFill/>
          <a:ln/>
        </p:spPr>
        <p:txBody>
          <a:bodyPr wrap="square" rtlCol="0" anchor="ctr"/>
          <a:lstStyle/>
          <a:p>
            <a:pPr marL="0" indent="0">
              <a:buNone/>
            </a:pPr>
            <a:r>
              <a:rPr lang="en-US" sz="1100" dirty="0">
                <a:solidFill>
                  <a:srgbClr val="9FB3AD"/>
                </a:solidFill>
                <a:latin typeface="Calibri" pitchFamily="34" charset="0"/>
                <a:ea typeface="Calibri" pitchFamily="34" charset="-122"/>
                <a:cs typeface="Calibri" pitchFamily="34" charset="-120"/>
              </a:rPr>
              <a:t>24070126006</a:t>
            </a:r>
            <a:endParaRPr lang="en-US" sz="1100" dirty="0"/>
          </a:p>
        </p:txBody>
      </p:sp>
      <p:sp>
        <p:nvSpPr>
          <p:cNvPr id="22" name="Text 19"/>
          <p:cNvSpPr/>
          <p:nvPr/>
        </p:nvSpPr>
        <p:spPr>
          <a:xfrm>
            <a:off x="11551615" y="6446520"/>
            <a:ext cx="457200" cy="274320"/>
          </a:xfrm>
          <a:prstGeom prst="rect">
            <a:avLst/>
          </a:prstGeom>
          <a:noFill/>
          <a:ln/>
        </p:spPr>
        <p:txBody>
          <a:bodyPr wrap="square" rtlCol="0" anchor="ctr"/>
          <a:lstStyle/>
          <a:p>
            <a:pPr marL="0" indent="0" algn="r">
              <a:buNone/>
            </a:pPr>
            <a:r>
              <a:rPr lang="en-US" sz="900" dirty="0">
                <a:solidFill>
                  <a:srgbClr val="8FA69E"/>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rtlCol="0" anchor="ctr"/>
          <a:lstStyle/>
          <a:p>
            <a:pPr marL="0" indent="0">
              <a:buNone/>
            </a:pPr>
            <a:r>
              <a:rPr lang="en-US" sz="1150" b="1" kern="0" spc="200" dirty="0">
                <a:solidFill>
                  <a:srgbClr val="E8622C"/>
                </a:solidFill>
                <a:latin typeface="Calibri" pitchFamily="34" charset="0"/>
                <a:ea typeface="Calibri" pitchFamily="34" charset="-122"/>
                <a:cs typeface="Calibri" pitchFamily="34" charset="-120"/>
              </a:rPr>
              <a:t>WHY UEHIS EXISTS</a:t>
            </a:r>
            <a:endParaRPr lang="en-US" sz="1150" dirty="0"/>
          </a:p>
        </p:txBody>
      </p:sp>
      <p:sp>
        <p:nvSpPr>
          <p:cNvPr id="3" name="Text 1"/>
          <p:cNvSpPr/>
          <p:nvPr/>
        </p:nvSpPr>
        <p:spPr>
          <a:xfrm>
            <a:off x="548640" y="749808"/>
            <a:ext cx="10515600" cy="594360"/>
          </a:xfrm>
          <a:prstGeom prst="rect">
            <a:avLst/>
          </a:prstGeom>
          <a:noFill/>
          <a:ln/>
        </p:spPr>
        <p:txBody>
          <a:bodyPr wrap="square" rtlCol="0" anchor="ctr"/>
          <a:lstStyle/>
          <a:p>
            <a:pPr marL="0" indent="0">
              <a:buNone/>
            </a:pPr>
            <a:r>
              <a:rPr lang="en-US" sz="3200" b="1" dirty="0">
                <a:solidFill>
                  <a:srgbClr val="1A211F"/>
                </a:solidFill>
                <a:latin typeface="Cambria" pitchFamily="34" charset="0"/>
                <a:ea typeface="Cambria" pitchFamily="34" charset="-122"/>
                <a:cs typeface="Cambria" pitchFamily="34" charset="-120"/>
              </a:rPr>
              <a:t>Problem Statement &amp; Solution</a:t>
            </a:r>
            <a:endParaRPr lang="en-US" sz="3200" dirty="0"/>
          </a:p>
        </p:txBody>
      </p:sp>
      <p:sp>
        <p:nvSpPr>
          <p:cNvPr id="4" name="Shape 2"/>
          <p:cNvSpPr/>
          <p:nvPr/>
        </p:nvSpPr>
        <p:spPr>
          <a:xfrm>
            <a:off x="548640" y="1600200"/>
            <a:ext cx="11091672" cy="1965960"/>
          </a:xfrm>
          <a:prstGeom prst="rect">
            <a:avLst/>
          </a:prstGeom>
          <a:solidFill>
            <a:srgbClr val="1E4D3D"/>
          </a:solidFill>
          <a:ln/>
        </p:spPr>
      </p:sp>
      <p:sp>
        <p:nvSpPr>
          <p:cNvPr id="5" name="Text 3"/>
          <p:cNvSpPr/>
          <p:nvPr/>
        </p:nvSpPr>
        <p:spPr>
          <a:xfrm>
            <a:off x="914400" y="1810512"/>
            <a:ext cx="3657600" cy="292608"/>
          </a:xfrm>
          <a:prstGeom prst="rect">
            <a:avLst/>
          </a:prstGeom>
          <a:noFill/>
          <a:ln/>
        </p:spPr>
        <p:txBody>
          <a:bodyPr wrap="square" rtlCol="0" anchor="ctr"/>
          <a:lstStyle/>
          <a:p>
            <a:pPr marL="0" indent="0">
              <a:buNone/>
            </a:pPr>
            <a:r>
              <a:rPr lang="en-US" sz="1200" b="1" kern="0" spc="200" dirty="0">
                <a:solidFill>
                  <a:srgbClr val="E8622C"/>
                </a:solidFill>
                <a:latin typeface="Calibri" pitchFamily="34" charset="0"/>
                <a:ea typeface="Calibri" pitchFamily="34" charset="-122"/>
                <a:cs typeface="Calibri" pitchFamily="34" charset="-120"/>
              </a:rPr>
              <a:t>THE PROBLEM</a:t>
            </a:r>
            <a:endParaRPr lang="en-US" sz="1200" dirty="0"/>
          </a:p>
        </p:txBody>
      </p:sp>
      <p:sp>
        <p:nvSpPr>
          <p:cNvPr id="6" name="Text 4"/>
          <p:cNvSpPr/>
          <p:nvPr/>
        </p:nvSpPr>
        <p:spPr>
          <a:xfrm>
            <a:off x="914400" y="2121408"/>
            <a:ext cx="10332720" cy="1371600"/>
          </a:xfrm>
          <a:prstGeom prst="rect">
            <a:avLst/>
          </a:prstGeom>
          <a:noFill/>
          <a:ln/>
        </p:spPr>
        <p:txBody>
          <a:bodyPr wrap="square" rtlCol="0" anchor="ctr"/>
          <a:lstStyle/>
          <a:p>
            <a:pPr marL="0" indent="0">
              <a:lnSpc>
                <a:spcPct val="128000"/>
              </a:lnSpc>
              <a:buNone/>
            </a:pPr>
            <a:r>
              <a:rPr lang="en-US" sz="1450" dirty="0">
                <a:solidFill>
                  <a:srgbClr val="FFFFFF"/>
                </a:solidFill>
                <a:latin typeface="Calibri" pitchFamily="34" charset="0"/>
                <a:ea typeface="Calibri" pitchFamily="34" charset="-122"/>
                <a:cs typeface="Calibri" pitchFamily="34" charset="-120"/>
              </a:rPr>
              <a:t>Urban heat islands are pushing up temperatures in dense, low-canopy city blocks, yet NGOs like SEER Bharat still plant trees reactively, with no data on which blocks need intervention most or which have the most vulnerable population exposure. Existing environmental indices score ecosystem health using fixed, arbitrary weights that ignore local conditions, and there is no quantified way to prove carbon-offset impact to corporate CSR donors.</a:t>
            </a:r>
            <a:endParaRPr lang="en-US" sz="1450" dirty="0"/>
          </a:p>
        </p:txBody>
      </p:sp>
      <p:sp>
        <p:nvSpPr>
          <p:cNvPr id="7" name="Text 5"/>
          <p:cNvSpPr/>
          <p:nvPr/>
        </p:nvSpPr>
        <p:spPr>
          <a:xfrm>
            <a:off x="548640" y="3794760"/>
            <a:ext cx="3657600" cy="292608"/>
          </a:xfrm>
          <a:prstGeom prst="rect">
            <a:avLst/>
          </a:prstGeom>
          <a:noFill/>
          <a:ln/>
        </p:spPr>
        <p:txBody>
          <a:bodyPr wrap="square" rtlCol="0" anchor="ctr"/>
          <a:lstStyle/>
          <a:p>
            <a:pPr marL="0" indent="0">
              <a:buNone/>
            </a:pPr>
            <a:r>
              <a:rPr lang="en-US" sz="1200" b="1" kern="0" spc="200" dirty="0">
                <a:solidFill>
                  <a:srgbClr val="4E9C77"/>
                </a:solidFill>
                <a:latin typeface="Calibri" pitchFamily="34" charset="0"/>
                <a:ea typeface="Calibri" pitchFamily="34" charset="-122"/>
                <a:cs typeface="Calibri" pitchFamily="34" charset="-120"/>
              </a:rPr>
              <a:t>THE SOLUTION</a:t>
            </a:r>
            <a:endParaRPr lang="en-US" sz="1200" dirty="0"/>
          </a:p>
        </p:txBody>
      </p:sp>
      <p:sp>
        <p:nvSpPr>
          <p:cNvPr id="8" name="Shape 6"/>
          <p:cNvSpPr/>
          <p:nvPr/>
        </p:nvSpPr>
        <p:spPr>
          <a:xfrm>
            <a:off x="548640" y="4206240"/>
            <a:ext cx="2651760" cy="1965960"/>
          </a:xfrm>
          <a:prstGeom prst="rect">
            <a:avLst/>
          </a:prstGeom>
          <a:solidFill>
            <a:srgbClr val="EEF2F0"/>
          </a:solidFill>
          <a:ln/>
        </p:spPr>
      </p:sp>
      <p:sp>
        <p:nvSpPr>
          <p:cNvPr id="9" name="Shape 7"/>
          <p:cNvSpPr/>
          <p:nvPr/>
        </p:nvSpPr>
        <p:spPr>
          <a:xfrm>
            <a:off x="749808" y="4407408"/>
            <a:ext cx="457200" cy="457200"/>
          </a:xfrm>
          <a:prstGeom prst="ellipse">
            <a:avLst/>
          </a:prstGeom>
          <a:solidFill>
            <a:srgbClr val="4E9C77"/>
          </a:solidFill>
          <a:ln/>
        </p:spPr>
      </p:sp>
      <p:sp>
        <p:nvSpPr>
          <p:cNvPr id="10" name="Text 8"/>
          <p:cNvSpPr/>
          <p:nvPr/>
        </p:nvSpPr>
        <p:spPr>
          <a:xfrm>
            <a:off x="749808" y="4407408"/>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1" name="Text 9"/>
          <p:cNvSpPr/>
          <p:nvPr/>
        </p:nvSpPr>
        <p:spPr>
          <a:xfrm>
            <a:off x="749808" y="4992624"/>
            <a:ext cx="2249424" cy="365760"/>
          </a:xfrm>
          <a:prstGeom prst="rect">
            <a:avLst/>
          </a:prstGeom>
          <a:noFill/>
          <a:ln/>
        </p:spPr>
        <p:txBody>
          <a:bodyPr wrap="square" rtlCol="0" anchor="ctr"/>
          <a:lstStyle/>
          <a:p>
            <a:pPr marL="0" indent="0">
              <a:buNone/>
            </a:pPr>
            <a:r>
              <a:rPr lang="en-US" sz="1450" b="1" dirty="0">
                <a:solidFill>
                  <a:srgbClr val="1A211F"/>
                </a:solidFill>
                <a:latin typeface="Calibri" pitchFamily="34" charset="0"/>
                <a:ea typeface="Calibri" pitchFamily="34" charset="-122"/>
                <a:cs typeface="Calibri" pitchFamily="34" charset="-120"/>
              </a:rPr>
              <a:t>Fuse Real Data</a:t>
            </a:r>
            <a:endParaRPr lang="en-US" sz="1450" dirty="0"/>
          </a:p>
        </p:txBody>
      </p:sp>
      <p:sp>
        <p:nvSpPr>
          <p:cNvPr id="12" name="Text 10"/>
          <p:cNvSpPr/>
          <p:nvPr/>
        </p:nvSpPr>
        <p:spPr>
          <a:xfrm>
            <a:off x="749808" y="5340096"/>
            <a:ext cx="2249424" cy="749808"/>
          </a:xfrm>
          <a:prstGeom prst="rect">
            <a:avLst/>
          </a:prstGeom>
          <a:noFill/>
          <a:ln/>
        </p:spPr>
        <p:txBody>
          <a:bodyPr wrap="square" rtlCol="0" anchor="ctr"/>
          <a:lstStyle/>
          <a:p>
            <a:pPr marL="0" indent="0">
              <a:lnSpc>
                <a:spcPct val="115000"/>
              </a:lnSpc>
              <a:buNone/>
            </a:pPr>
            <a:r>
              <a:rPr lang="en-US" sz="1080" dirty="0">
                <a:solidFill>
                  <a:srgbClr val="5B6B66"/>
                </a:solidFill>
                <a:latin typeface="Calibri" pitchFamily="34" charset="0"/>
                <a:ea typeface="Calibri" pitchFamily="34" charset="-122"/>
                <a:cs typeface="Calibri" pitchFamily="34" charset="-120"/>
              </a:rPr>
              <a:t>Combine satellite imagery (Earth Engine) with 3D urban morphology from OpenStreetMap.</a:t>
            </a:r>
            <a:endParaRPr lang="en-US" sz="1080" dirty="0"/>
          </a:p>
        </p:txBody>
      </p:sp>
      <p:sp>
        <p:nvSpPr>
          <p:cNvPr id="13" name="Shape 11"/>
          <p:cNvSpPr/>
          <p:nvPr/>
        </p:nvSpPr>
        <p:spPr>
          <a:xfrm>
            <a:off x="3419856" y="4206240"/>
            <a:ext cx="2651760" cy="1965960"/>
          </a:xfrm>
          <a:prstGeom prst="rect">
            <a:avLst/>
          </a:prstGeom>
          <a:solidFill>
            <a:srgbClr val="EEF2F0"/>
          </a:solidFill>
          <a:ln/>
        </p:spPr>
      </p:sp>
      <p:sp>
        <p:nvSpPr>
          <p:cNvPr id="14" name="Shape 12"/>
          <p:cNvSpPr/>
          <p:nvPr/>
        </p:nvSpPr>
        <p:spPr>
          <a:xfrm>
            <a:off x="3621024" y="4407408"/>
            <a:ext cx="457200" cy="457200"/>
          </a:xfrm>
          <a:prstGeom prst="ellipse">
            <a:avLst/>
          </a:prstGeom>
          <a:solidFill>
            <a:srgbClr val="4E9C77"/>
          </a:solidFill>
          <a:ln/>
        </p:spPr>
      </p:sp>
      <p:sp>
        <p:nvSpPr>
          <p:cNvPr id="15" name="Text 13"/>
          <p:cNvSpPr/>
          <p:nvPr/>
        </p:nvSpPr>
        <p:spPr>
          <a:xfrm>
            <a:off x="3621024" y="4407408"/>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4"/>
          <p:cNvSpPr/>
          <p:nvPr/>
        </p:nvSpPr>
        <p:spPr>
          <a:xfrm>
            <a:off x="3621024" y="4992624"/>
            <a:ext cx="2249424" cy="365760"/>
          </a:xfrm>
          <a:prstGeom prst="rect">
            <a:avLst/>
          </a:prstGeom>
          <a:noFill/>
          <a:ln/>
        </p:spPr>
        <p:txBody>
          <a:bodyPr wrap="square" rtlCol="0" anchor="ctr"/>
          <a:lstStyle/>
          <a:p>
            <a:pPr marL="0" indent="0">
              <a:buNone/>
            </a:pPr>
            <a:r>
              <a:rPr lang="en-US" sz="1450" b="1" dirty="0">
                <a:solidFill>
                  <a:srgbClr val="1A211F"/>
                </a:solidFill>
                <a:latin typeface="Calibri" pitchFamily="34" charset="0"/>
                <a:ea typeface="Calibri" pitchFamily="34" charset="-122"/>
                <a:cs typeface="Calibri" pitchFamily="34" charset="-120"/>
              </a:rPr>
              <a:t>Score Every Block</a:t>
            </a:r>
            <a:endParaRPr lang="en-US" sz="1450" dirty="0"/>
          </a:p>
        </p:txBody>
      </p:sp>
      <p:sp>
        <p:nvSpPr>
          <p:cNvPr id="17" name="Text 15"/>
          <p:cNvSpPr/>
          <p:nvPr/>
        </p:nvSpPr>
        <p:spPr>
          <a:xfrm>
            <a:off x="3621024" y="5340096"/>
            <a:ext cx="2249424" cy="749808"/>
          </a:xfrm>
          <a:prstGeom prst="rect">
            <a:avLst/>
          </a:prstGeom>
          <a:noFill/>
          <a:ln/>
        </p:spPr>
        <p:txBody>
          <a:bodyPr wrap="square" rtlCol="0" anchor="ctr"/>
          <a:lstStyle/>
          <a:p>
            <a:pPr marL="0" indent="0">
              <a:lnSpc>
                <a:spcPct val="115000"/>
              </a:lnSpc>
              <a:buNone/>
            </a:pPr>
            <a:r>
              <a:rPr lang="en-US" sz="1080" dirty="0">
                <a:solidFill>
                  <a:srgbClr val="5B6B66"/>
                </a:solidFill>
                <a:latin typeface="Calibri" pitchFamily="34" charset="0"/>
                <a:ea typeface="Calibri" pitchFamily="34" charset="-122"/>
                <a:cs typeface="Calibri" pitchFamily="34" charset="-120"/>
              </a:rPr>
              <a:t>Rate each city block 0–100 on ecological and thermal health, not just the whole ward.</a:t>
            </a:r>
            <a:endParaRPr lang="en-US" sz="1080" dirty="0"/>
          </a:p>
        </p:txBody>
      </p:sp>
      <p:sp>
        <p:nvSpPr>
          <p:cNvPr id="18" name="Shape 16"/>
          <p:cNvSpPr/>
          <p:nvPr/>
        </p:nvSpPr>
        <p:spPr>
          <a:xfrm>
            <a:off x="6291072" y="4206240"/>
            <a:ext cx="2651760" cy="1965960"/>
          </a:xfrm>
          <a:prstGeom prst="rect">
            <a:avLst/>
          </a:prstGeom>
          <a:solidFill>
            <a:srgbClr val="EEF2F0"/>
          </a:solidFill>
          <a:ln/>
        </p:spPr>
      </p:sp>
      <p:sp>
        <p:nvSpPr>
          <p:cNvPr id="19" name="Shape 17"/>
          <p:cNvSpPr/>
          <p:nvPr/>
        </p:nvSpPr>
        <p:spPr>
          <a:xfrm>
            <a:off x="6492240" y="4407408"/>
            <a:ext cx="457200" cy="457200"/>
          </a:xfrm>
          <a:prstGeom prst="ellipse">
            <a:avLst/>
          </a:prstGeom>
          <a:solidFill>
            <a:srgbClr val="4E9C77"/>
          </a:solidFill>
          <a:ln/>
        </p:spPr>
      </p:sp>
      <p:sp>
        <p:nvSpPr>
          <p:cNvPr id="20" name="Text 18"/>
          <p:cNvSpPr/>
          <p:nvPr/>
        </p:nvSpPr>
        <p:spPr>
          <a:xfrm>
            <a:off x="6492240" y="4407408"/>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9"/>
          <p:cNvSpPr/>
          <p:nvPr/>
        </p:nvSpPr>
        <p:spPr>
          <a:xfrm>
            <a:off x="6492240" y="4992624"/>
            <a:ext cx="2249424" cy="365760"/>
          </a:xfrm>
          <a:prstGeom prst="rect">
            <a:avLst/>
          </a:prstGeom>
          <a:noFill/>
          <a:ln/>
        </p:spPr>
        <p:txBody>
          <a:bodyPr wrap="square" rtlCol="0" anchor="ctr"/>
          <a:lstStyle/>
          <a:p>
            <a:pPr marL="0" indent="0">
              <a:buNone/>
            </a:pPr>
            <a:r>
              <a:rPr lang="en-US" sz="1450" b="1" dirty="0">
                <a:solidFill>
                  <a:srgbClr val="1A211F"/>
                </a:solidFill>
                <a:latin typeface="Calibri" pitchFamily="34" charset="0"/>
                <a:ea typeface="Calibri" pitchFamily="34" charset="-122"/>
                <a:cs typeface="Calibri" pitchFamily="34" charset="-120"/>
              </a:rPr>
              <a:t>Adapt to Local Data</a:t>
            </a:r>
            <a:endParaRPr lang="en-US" sz="1450" dirty="0"/>
          </a:p>
        </p:txBody>
      </p:sp>
      <p:sp>
        <p:nvSpPr>
          <p:cNvPr id="22" name="Text 20"/>
          <p:cNvSpPr/>
          <p:nvPr/>
        </p:nvSpPr>
        <p:spPr>
          <a:xfrm>
            <a:off x="6492240" y="5340096"/>
            <a:ext cx="2249424" cy="749808"/>
          </a:xfrm>
          <a:prstGeom prst="rect">
            <a:avLst/>
          </a:prstGeom>
          <a:noFill/>
          <a:ln/>
        </p:spPr>
        <p:txBody>
          <a:bodyPr wrap="square" rtlCol="0" anchor="ctr"/>
          <a:lstStyle/>
          <a:p>
            <a:pPr marL="0" indent="0">
              <a:lnSpc>
                <a:spcPct val="115000"/>
              </a:lnSpc>
              <a:buNone/>
            </a:pPr>
            <a:r>
              <a:rPr lang="en-US" sz="1080" dirty="0">
                <a:solidFill>
                  <a:srgbClr val="5B6B66"/>
                </a:solidFill>
                <a:latin typeface="Calibri" pitchFamily="34" charset="0"/>
                <a:ea typeface="Calibri" pitchFamily="34" charset="-122"/>
                <a:cs typeface="Calibri" pitchFamily="34" charset="-120"/>
              </a:rPr>
              <a:t>Use a data-driven, entropy-weighted formula instead of fixed, judgment-based weights.</a:t>
            </a:r>
            <a:endParaRPr lang="en-US" sz="1080" dirty="0"/>
          </a:p>
        </p:txBody>
      </p:sp>
      <p:sp>
        <p:nvSpPr>
          <p:cNvPr id="23" name="Shape 21"/>
          <p:cNvSpPr/>
          <p:nvPr/>
        </p:nvSpPr>
        <p:spPr>
          <a:xfrm>
            <a:off x="9162288" y="4206240"/>
            <a:ext cx="2651760" cy="1965960"/>
          </a:xfrm>
          <a:prstGeom prst="rect">
            <a:avLst/>
          </a:prstGeom>
          <a:solidFill>
            <a:srgbClr val="EEF2F0"/>
          </a:solidFill>
          <a:ln/>
        </p:spPr>
      </p:sp>
      <p:sp>
        <p:nvSpPr>
          <p:cNvPr id="24" name="Shape 22"/>
          <p:cNvSpPr/>
          <p:nvPr/>
        </p:nvSpPr>
        <p:spPr>
          <a:xfrm>
            <a:off x="9363456" y="4407408"/>
            <a:ext cx="457200" cy="457200"/>
          </a:xfrm>
          <a:prstGeom prst="ellipse">
            <a:avLst/>
          </a:prstGeom>
          <a:solidFill>
            <a:srgbClr val="4E9C77"/>
          </a:solidFill>
          <a:ln/>
        </p:spPr>
      </p:sp>
      <p:sp>
        <p:nvSpPr>
          <p:cNvPr id="25" name="Text 23"/>
          <p:cNvSpPr/>
          <p:nvPr/>
        </p:nvSpPr>
        <p:spPr>
          <a:xfrm>
            <a:off x="9363456" y="4407408"/>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6" name="Text 24"/>
          <p:cNvSpPr/>
          <p:nvPr/>
        </p:nvSpPr>
        <p:spPr>
          <a:xfrm>
            <a:off x="9363456" y="4992624"/>
            <a:ext cx="2249424" cy="365760"/>
          </a:xfrm>
          <a:prstGeom prst="rect">
            <a:avLst/>
          </a:prstGeom>
          <a:noFill/>
          <a:ln/>
        </p:spPr>
        <p:txBody>
          <a:bodyPr wrap="square" rtlCol="0" anchor="ctr"/>
          <a:lstStyle/>
          <a:p>
            <a:pPr marL="0" indent="0">
              <a:buNone/>
            </a:pPr>
            <a:r>
              <a:rPr lang="en-US" sz="1450" b="1" dirty="0">
                <a:solidFill>
                  <a:srgbClr val="1A211F"/>
                </a:solidFill>
                <a:latin typeface="Calibri" pitchFamily="34" charset="0"/>
                <a:ea typeface="Calibri" pitchFamily="34" charset="-122"/>
                <a:cs typeface="Calibri" pitchFamily="34" charset="-120"/>
              </a:rPr>
              <a:t>Act on Results</a:t>
            </a:r>
            <a:endParaRPr lang="en-US" sz="1450" dirty="0"/>
          </a:p>
        </p:txBody>
      </p:sp>
      <p:sp>
        <p:nvSpPr>
          <p:cNvPr id="27" name="Text 25"/>
          <p:cNvSpPr/>
          <p:nvPr/>
        </p:nvSpPr>
        <p:spPr>
          <a:xfrm>
            <a:off x="9363456" y="5340096"/>
            <a:ext cx="2249424" cy="749808"/>
          </a:xfrm>
          <a:prstGeom prst="rect">
            <a:avLst/>
          </a:prstGeom>
          <a:noFill/>
          <a:ln/>
        </p:spPr>
        <p:txBody>
          <a:bodyPr wrap="square" rtlCol="0" anchor="ctr"/>
          <a:lstStyle/>
          <a:p>
            <a:pPr marL="0" indent="0">
              <a:lnSpc>
                <a:spcPct val="115000"/>
              </a:lnSpc>
              <a:buNone/>
            </a:pPr>
            <a:r>
              <a:rPr lang="en-US" sz="1080" dirty="0">
                <a:solidFill>
                  <a:srgbClr val="5B6B66"/>
                </a:solidFill>
                <a:latin typeface="Calibri" pitchFamily="34" charset="0"/>
                <a:ea typeface="Calibri" pitchFamily="34" charset="-122"/>
                <a:cs typeface="Calibri" pitchFamily="34" charset="-120"/>
              </a:rPr>
              <a:t>Output actionable risk tiers, and eventually carbon-sink planting recommendations.</a:t>
            </a:r>
            <a:endParaRPr lang="en-US" sz="1080" dirty="0"/>
          </a:p>
        </p:txBody>
      </p:sp>
      <p:sp>
        <p:nvSpPr>
          <p:cNvPr id="28" name="Text 26"/>
          <p:cNvSpPr/>
          <p:nvPr/>
        </p:nvSpPr>
        <p:spPr>
          <a:xfrm>
            <a:off x="11551615" y="6446520"/>
            <a:ext cx="457200" cy="274320"/>
          </a:xfrm>
          <a:prstGeom prst="rect">
            <a:avLst/>
          </a:prstGeom>
          <a:noFill/>
          <a:ln/>
        </p:spPr>
        <p:txBody>
          <a:bodyPr wrap="square" rtlCol="0" anchor="ctr"/>
          <a:lstStyle/>
          <a:p>
            <a:pPr marL="0" indent="0" algn="r">
              <a:buNone/>
            </a:pPr>
            <a:r>
              <a:rPr lang="en-US" sz="900" dirty="0">
                <a:solidFill>
                  <a:srgbClr val="5B6B66"/>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rtlCol="0" anchor="ctr"/>
          <a:lstStyle/>
          <a:p>
            <a:pPr marL="0" indent="0">
              <a:buNone/>
            </a:pPr>
            <a:r>
              <a:rPr lang="en-US" sz="1150" b="1" kern="0" spc="200" dirty="0">
                <a:solidFill>
                  <a:srgbClr val="E8622C"/>
                </a:solidFill>
                <a:latin typeface="Calibri" pitchFamily="34" charset="0"/>
                <a:ea typeface="Calibri" pitchFamily="34" charset="-122"/>
                <a:cs typeface="Calibri" pitchFamily="34" charset="-120"/>
              </a:rPr>
              <a:t>OUR SERVICE-LEARNING JOURNEY</a:t>
            </a:r>
            <a:endParaRPr lang="en-US" sz="1150" dirty="0"/>
          </a:p>
        </p:txBody>
      </p:sp>
      <p:sp>
        <p:nvSpPr>
          <p:cNvPr id="3" name="Text 1"/>
          <p:cNvSpPr/>
          <p:nvPr/>
        </p:nvSpPr>
        <p:spPr>
          <a:xfrm>
            <a:off x="548640" y="749808"/>
            <a:ext cx="10789920" cy="594360"/>
          </a:xfrm>
          <a:prstGeom prst="rect">
            <a:avLst/>
          </a:prstGeom>
          <a:noFill/>
          <a:ln/>
        </p:spPr>
        <p:txBody>
          <a:bodyPr wrap="square" rtlCol="0" anchor="ctr"/>
          <a:lstStyle/>
          <a:p>
            <a:pPr marL="0" indent="0">
              <a:buNone/>
            </a:pPr>
            <a:r>
              <a:rPr lang="en-US" sz="2800" b="1" dirty="0">
                <a:solidFill>
                  <a:srgbClr val="1A211F"/>
                </a:solidFill>
                <a:latin typeface="Cambria" pitchFamily="34" charset="0"/>
                <a:ea typeface="Cambria" pitchFamily="34" charset="-122"/>
                <a:cs typeface="Cambria" pitchFamily="34" charset="-120"/>
              </a:rPr>
              <a:t>From Community Roots to a Working Technical System</a:t>
            </a:r>
            <a:endParaRPr lang="en-US" sz="2800" dirty="0"/>
          </a:p>
        </p:txBody>
      </p:sp>
      <p:sp>
        <p:nvSpPr>
          <p:cNvPr id="4" name="Shape 2"/>
          <p:cNvSpPr/>
          <p:nvPr/>
        </p:nvSpPr>
        <p:spPr>
          <a:xfrm>
            <a:off x="2004022" y="2331720"/>
            <a:ext cx="8183651" cy="0"/>
          </a:xfrm>
          <a:prstGeom prst="line">
            <a:avLst/>
          </a:prstGeom>
          <a:noFill/>
          <a:ln w="31750">
            <a:solidFill>
              <a:srgbClr val="DCE3E0"/>
            </a:solidFill>
            <a:prstDash val="solid"/>
          </a:ln>
        </p:spPr>
      </p:sp>
      <p:sp>
        <p:nvSpPr>
          <p:cNvPr id="5" name="Shape 3"/>
          <p:cNvSpPr/>
          <p:nvPr/>
        </p:nvSpPr>
        <p:spPr>
          <a:xfrm>
            <a:off x="1693126" y="2020824"/>
            <a:ext cx="621792" cy="621792"/>
          </a:xfrm>
          <a:prstGeom prst="ellipse">
            <a:avLst/>
          </a:prstGeom>
          <a:solidFill>
            <a:srgbClr val="4E9C77"/>
          </a:solidFill>
          <a:ln w="38100">
            <a:solidFill>
              <a:srgbClr val="FFFFFF"/>
            </a:solidFill>
            <a:prstDash val="solid"/>
          </a:ln>
        </p:spPr>
      </p:sp>
      <p:sp>
        <p:nvSpPr>
          <p:cNvPr id="6" name="Text 4"/>
          <p:cNvSpPr/>
          <p:nvPr/>
        </p:nvSpPr>
        <p:spPr>
          <a:xfrm>
            <a:off x="1693126" y="2020824"/>
            <a:ext cx="621792" cy="621792"/>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Shape 5"/>
          <p:cNvSpPr/>
          <p:nvPr/>
        </p:nvSpPr>
        <p:spPr>
          <a:xfrm>
            <a:off x="800100" y="2880360"/>
            <a:ext cx="2407844" cy="1965960"/>
          </a:xfrm>
          <a:prstGeom prst="rect">
            <a:avLst/>
          </a:prstGeom>
          <a:solidFill>
            <a:srgbClr val="EEF2F0"/>
          </a:solidFill>
          <a:ln/>
        </p:spPr>
      </p:sp>
      <p:sp>
        <p:nvSpPr>
          <p:cNvPr id="8" name="Text 6"/>
          <p:cNvSpPr/>
          <p:nvPr/>
        </p:nvSpPr>
        <p:spPr>
          <a:xfrm>
            <a:off x="982980" y="3044952"/>
            <a:ext cx="2042084" cy="685800"/>
          </a:xfrm>
          <a:prstGeom prst="rect">
            <a:avLst/>
          </a:prstGeom>
          <a:noFill/>
          <a:ln/>
        </p:spPr>
        <p:txBody>
          <a:bodyPr wrap="square" rtlCol="0" anchor="ctr"/>
          <a:lstStyle/>
          <a:p>
            <a:pPr marL="0" indent="0">
              <a:lnSpc>
                <a:spcPct val="105000"/>
              </a:lnSpc>
              <a:buNone/>
            </a:pPr>
            <a:r>
              <a:rPr lang="en-US" sz="1450" b="1" dirty="0">
                <a:solidFill>
                  <a:srgbClr val="1A211F"/>
                </a:solidFill>
                <a:latin typeface="Calibri" pitchFamily="34" charset="0"/>
                <a:ea typeface="Calibri" pitchFamily="34" charset="-122"/>
                <a:cs typeface="Calibri" pitchFamily="34" charset="-120"/>
              </a:rPr>
              <a:t>Community Engagement</a:t>
            </a:r>
            <a:endParaRPr lang="en-US" sz="1450" dirty="0"/>
          </a:p>
        </p:txBody>
      </p:sp>
      <p:sp>
        <p:nvSpPr>
          <p:cNvPr id="9" name="Text 7"/>
          <p:cNvSpPr/>
          <p:nvPr/>
        </p:nvSpPr>
        <p:spPr>
          <a:xfrm>
            <a:off x="982980" y="3703320"/>
            <a:ext cx="2042084" cy="1051560"/>
          </a:xfrm>
          <a:prstGeom prst="rect">
            <a:avLst/>
          </a:prstGeom>
          <a:noFill/>
          <a:ln/>
        </p:spPr>
        <p:txBody>
          <a:bodyPr wrap="square" rtlCol="0" anchor="ctr"/>
          <a:lstStyle/>
          <a:p>
            <a:pPr marL="0" indent="0">
              <a:lnSpc>
                <a:spcPct val="120000"/>
              </a:lnSpc>
              <a:buNone/>
            </a:pPr>
            <a:r>
              <a:rPr lang="en-US" sz="1080" dirty="0">
                <a:solidFill>
                  <a:srgbClr val="5B6B66"/>
                </a:solidFill>
                <a:latin typeface="Calibri" pitchFamily="34" charset="0"/>
                <a:ea typeface="Calibri" pitchFamily="34" charset="-122"/>
                <a:cs typeface="Calibri" pitchFamily="34" charset="-120"/>
              </a:rPr>
              <a:t>Coordinated with SEER Bharat and stayed close to the NGO's real, on-ground needs.</a:t>
            </a:r>
            <a:endParaRPr lang="en-US" sz="1080" dirty="0"/>
          </a:p>
        </p:txBody>
      </p:sp>
      <p:sp>
        <p:nvSpPr>
          <p:cNvPr id="10" name="Shape 8"/>
          <p:cNvSpPr/>
          <p:nvPr/>
        </p:nvSpPr>
        <p:spPr>
          <a:xfrm>
            <a:off x="4421010" y="2020824"/>
            <a:ext cx="621792" cy="621792"/>
          </a:xfrm>
          <a:prstGeom prst="ellipse">
            <a:avLst/>
          </a:prstGeom>
          <a:solidFill>
            <a:srgbClr val="E8622C"/>
          </a:solidFill>
          <a:ln w="38100">
            <a:solidFill>
              <a:srgbClr val="FFFFFF"/>
            </a:solidFill>
            <a:prstDash val="solid"/>
          </a:ln>
        </p:spPr>
      </p:sp>
      <p:sp>
        <p:nvSpPr>
          <p:cNvPr id="11" name="Text 9"/>
          <p:cNvSpPr/>
          <p:nvPr/>
        </p:nvSpPr>
        <p:spPr>
          <a:xfrm>
            <a:off x="4421010" y="2020824"/>
            <a:ext cx="621792" cy="621792"/>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Shape 10"/>
          <p:cNvSpPr/>
          <p:nvPr/>
        </p:nvSpPr>
        <p:spPr>
          <a:xfrm>
            <a:off x="3527984" y="2880360"/>
            <a:ext cx="2407844" cy="1965960"/>
          </a:xfrm>
          <a:prstGeom prst="rect">
            <a:avLst/>
          </a:prstGeom>
          <a:solidFill>
            <a:srgbClr val="EEF2F0"/>
          </a:solidFill>
          <a:ln/>
        </p:spPr>
      </p:sp>
      <p:sp>
        <p:nvSpPr>
          <p:cNvPr id="13" name="Text 11"/>
          <p:cNvSpPr/>
          <p:nvPr/>
        </p:nvSpPr>
        <p:spPr>
          <a:xfrm>
            <a:off x="3710864" y="3044952"/>
            <a:ext cx="2042084" cy="685800"/>
          </a:xfrm>
          <a:prstGeom prst="rect">
            <a:avLst/>
          </a:prstGeom>
          <a:noFill/>
          <a:ln/>
        </p:spPr>
        <p:txBody>
          <a:bodyPr wrap="square" rtlCol="0" anchor="ctr"/>
          <a:lstStyle/>
          <a:p>
            <a:pPr marL="0" indent="0">
              <a:lnSpc>
                <a:spcPct val="105000"/>
              </a:lnSpc>
              <a:buNone/>
            </a:pPr>
            <a:r>
              <a:rPr lang="en-US" sz="1450" b="1" dirty="0">
                <a:solidFill>
                  <a:srgbClr val="1A211F"/>
                </a:solidFill>
                <a:latin typeface="Calibri" pitchFamily="34" charset="0"/>
                <a:ea typeface="Calibri" pitchFamily="34" charset="-122"/>
                <a:cs typeface="Calibri" pitchFamily="34" charset="-120"/>
              </a:rPr>
              <a:t>Teamwork &amp; Responsibility</a:t>
            </a:r>
            <a:endParaRPr lang="en-US" sz="1450" dirty="0"/>
          </a:p>
        </p:txBody>
      </p:sp>
      <p:sp>
        <p:nvSpPr>
          <p:cNvPr id="14" name="Text 12"/>
          <p:cNvSpPr/>
          <p:nvPr/>
        </p:nvSpPr>
        <p:spPr>
          <a:xfrm>
            <a:off x="3710864" y="3703320"/>
            <a:ext cx="2042084" cy="1051560"/>
          </a:xfrm>
          <a:prstGeom prst="rect">
            <a:avLst/>
          </a:prstGeom>
          <a:noFill/>
          <a:ln/>
        </p:spPr>
        <p:txBody>
          <a:bodyPr wrap="square" rtlCol="0" anchor="ctr"/>
          <a:lstStyle/>
          <a:p>
            <a:pPr marL="0" indent="0">
              <a:lnSpc>
                <a:spcPct val="120000"/>
              </a:lnSpc>
              <a:buNone/>
            </a:pPr>
            <a:r>
              <a:rPr lang="en-US" sz="1080" dirty="0">
                <a:solidFill>
                  <a:srgbClr val="5B6B66"/>
                </a:solidFill>
                <a:latin typeface="Calibri" pitchFamily="34" charset="0"/>
                <a:ea typeface="Calibri" pitchFamily="34" charset="-122"/>
                <a:cs typeface="Calibri" pitchFamily="34" charset="-120"/>
              </a:rPr>
              <a:t>Divided technical roles across four members, coordinated every week.</a:t>
            </a:r>
            <a:endParaRPr lang="en-US" sz="1080" dirty="0"/>
          </a:p>
        </p:txBody>
      </p:sp>
      <p:sp>
        <p:nvSpPr>
          <p:cNvPr id="15" name="Shape 13"/>
          <p:cNvSpPr/>
          <p:nvPr/>
        </p:nvSpPr>
        <p:spPr>
          <a:xfrm>
            <a:off x="7148894" y="2020824"/>
            <a:ext cx="621792" cy="621792"/>
          </a:xfrm>
          <a:prstGeom prst="ellipse">
            <a:avLst/>
          </a:prstGeom>
          <a:solidFill>
            <a:srgbClr val="4E9C77"/>
          </a:solidFill>
          <a:ln w="38100">
            <a:solidFill>
              <a:srgbClr val="FFFFFF"/>
            </a:solidFill>
            <a:prstDash val="solid"/>
          </a:ln>
        </p:spPr>
      </p:sp>
      <p:sp>
        <p:nvSpPr>
          <p:cNvPr id="16" name="Text 14"/>
          <p:cNvSpPr/>
          <p:nvPr/>
        </p:nvSpPr>
        <p:spPr>
          <a:xfrm>
            <a:off x="7148894" y="2020824"/>
            <a:ext cx="621792" cy="621792"/>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Shape 15"/>
          <p:cNvSpPr/>
          <p:nvPr/>
        </p:nvSpPr>
        <p:spPr>
          <a:xfrm>
            <a:off x="6255868" y="2880360"/>
            <a:ext cx="2407844" cy="1965960"/>
          </a:xfrm>
          <a:prstGeom prst="rect">
            <a:avLst/>
          </a:prstGeom>
          <a:solidFill>
            <a:srgbClr val="EEF2F0"/>
          </a:solidFill>
          <a:ln/>
        </p:spPr>
      </p:sp>
      <p:sp>
        <p:nvSpPr>
          <p:cNvPr id="18" name="Text 16"/>
          <p:cNvSpPr/>
          <p:nvPr/>
        </p:nvSpPr>
        <p:spPr>
          <a:xfrm>
            <a:off x="6438748" y="3044952"/>
            <a:ext cx="2042084" cy="685800"/>
          </a:xfrm>
          <a:prstGeom prst="rect">
            <a:avLst/>
          </a:prstGeom>
          <a:noFill/>
          <a:ln/>
        </p:spPr>
        <p:txBody>
          <a:bodyPr wrap="square" rtlCol="0" anchor="ctr"/>
          <a:lstStyle/>
          <a:p>
            <a:pPr marL="0" indent="0">
              <a:lnSpc>
                <a:spcPct val="105000"/>
              </a:lnSpc>
              <a:buNone/>
            </a:pPr>
            <a:r>
              <a:rPr lang="en-US" sz="1450" b="1" dirty="0">
                <a:solidFill>
                  <a:srgbClr val="1A211F"/>
                </a:solidFill>
                <a:latin typeface="Calibri" pitchFamily="34" charset="0"/>
                <a:ea typeface="Calibri" pitchFamily="34" charset="-122"/>
                <a:cs typeface="Calibri" pitchFamily="34" charset="-120"/>
              </a:rPr>
              <a:t>Technical Exploration</a:t>
            </a:r>
            <a:endParaRPr lang="en-US" sz="1450" dirty="0"/>
          </a:p>
        </p:txBody>
      </p:sp>
      <p:sp>
        <p:nvSpPr>
          <p:cNvPr id="19" name="Text 17"/>
          <p:cNvSpPr/>
          <p:nvPr/>
        </p:nvSpPr>
        <p:spPr>
          <a:xfrm>
            <a:off x="6438748" y="3703320"/>
            <a:ext cx="2042084" cy="1051560"/>
          </a:xfrm>
          <a:prstGeom prst="rect">
            <a:avLst/>
          </a:prstGeom>
          <a:noFill/>
          <a:ln/>
        </p:spPr>
        <p:txBody>
          <a:bodyPr wrap="square" rtlCol="0" anchor="ctr"/>
          <a:lstStyle/>
          <a:p>
            <a:pPr marL="0" indent="0">
              <a:lnSpc>
                <a:spcPct val="120000"/>
              </a:lnSpc>
              <a:buNone/>
            </a:pPr>
            <a:r>
              <a:rPr lang="en-US" sz="1080" dirty="0">
                <a:solidFill>
                  <a:srgbClr val="5B6B66"/>
                </a:solidFill>
                <a:latin typeface="Calibri" pitchFamily="34" charset="0"/>
                <a:ea typeface="Calibri" pitchFamily="34" charset="-122"/>
                <a:cs typeface="Calibri" pitchFamily="34" charset="-120"/>
              </a:rPr>
              <a:t>Built a full satellite-to-score pipeline end to end for one pilot ward.</a:t>
            </a:r>
            <a:endParaRPr lang="en-US" sz="1080" dirty="0"/>
          </a:p>
        </p:txBody>
      </p:sp>
      <p:sp>
        <p:nvSpPr>
          <p:cNvPr id="20" name="Shape 18"/>
          <p:cNvSpPr/>
          <p:nvPr/>
        </p:nvSpPr>
        <p:spPr>
          <a:xfrm>
            <a:off x="9876777" y="2020824"/>
            <a:ext cx="621792" cy="621792"/>
          </a:xfrm>
          <a:prstGeom prst="ellipse">
            <a:avLst/>
          </a:prstGeom>
          <a:solidFill>
            <a:srgbClr val="E8622C"/>
          </a:solidFill>
          <a:ln w="38100">
            <a:solidFill>
              <a:srgbClr val="FFFFFF"/>
            </a:solidFill>
            <a:prstDash val="solid"/>
          </a:ln>
        </p:spPr>
      </p:sp>
      <p:sp>
        <p:nvSpPr>
          <p:cNvPr id="21" name="Text 19"/>
          <p:cNvSpPr/>
          <p:nvPr/>
        </p:nvSpPr>
        <p:spPr>
          <a:xfrm>
            <a:off x="9876777" y="2020824"/>
            <a:ext cx="621792" cy="621792"/>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2" name="Shape 20"/>
          <p:cNvSpPr/>
          <p:nvPr/>
        </p:nvSpPr>
        <p:spPr>
          <a:xfrm>
            <a:off x="8983751" y="2880360"/>
            <a:ext cx="2407844" cy="1965960"/>
          </a:xfrm>
          <a:prstGeom prst="rect">
            <a:avLst/>
          </a:prstGeom>
          <a:solidFill>
            <a:srgbClr val="EEF2F0"/>
          </a:solidFill>
          <a:ln/>
        </p:spPr>
      </p:sp>
      <p:sp>
        <p:nvSpPr>
          <p:cNvPr id="23" name="Text 21"/>
          <p:cNvSpPr/>
          <p:nvPr/>
        </p:nvSpPr>
        <p:spPr>
          <a:xfrm>
            <a:off x="9166631" y="3044952"/>
            <a:ext cx="2042084" cy="685800"/>
          </a:xfrm>
          <a:prstGeom prst="rect">
            <a:avLst/>
          </a:prstGeom>
          <a:noFill/>
          <a:ln/>
        </p:spPr>
        <p:txBody>
          <a:bodyPr wrap="square" rtlCol="0" anchor="ctr"/>
          <a:lstStyle/>
          <a:p>
            <a:pPr marL="0" indent="0">
              <a:lnSpc>
                <a:spcPct val="105000"/>
              </a:lnSpc>
              <a:buNone/>
            </a:pPr>
            <a:r>
              <a:rPr lang="en-US" sz="1450" b="1" dirty="0">
                <a:solidFill>
                  <a:srgbClr val="1A211F"/>
                </a:solidFill>
                <a:latin typeface="Calibri" pitchFamily="34" charset="0"/>
                <a:ea typeface="Calibri" pitchFamily="34" charset="-122"/>
                <a:cs typeface="Calibri" pitchFamily="34" charset="-120"/>
              </a:rPr>
              <a:t>Continued Development</a:t>
            </a:r>
            <a:endParaRPr lang="en-US" sz="1450" dirty="0"/>
          </a:p>
        </p:txBody>
      </p:sp>
      <p:sp>
        <p:nvSpPr>
          <p:cNvPr id="24" name="Text 22"/>
          <p:cNvSpPr/>
          <p:nvPr/>
        </p:nvSpPr>
        <p:spPr>
          <a:xfrm>
            <a:off x="9166631" y="3703320"/>
            <a:ext cx="2042084" cy="1051560"/>
          </a:xfrm>
          <a:prstGeom prst="rect">
            <a:avLst/>
          </a:prstGeom>
          <a:noFill/>
          <a:ln/>
        </p:spPr>
        <p:txBody>
          <a:bodyPr wrap="square" rtlCol="0" anchor="ctr"/>
          <a:lstStyle/>
          <a:p>
            <a:pPr marL="0" indent="0">
              <a:lnSpc>
                <a:spcPct val="120000"/>
              </a:lnSpc>
              <a:buNone/>
            </a:pPr>
            <a:r>
              <a:rPr lang="en-US" sz="1080" dirty="0">
                <a:solidFill>
                  <a:srgbClr val="5B6B66"/>
                </a:solidFill>
                <a:latin typeface="Calibri" pitchFamily="34" charset="0"/>
                <a:ea typeface="Calibri" pitchFamily="34" charset="-122"/>
                <a:cs typeface="Calibri" pitchFamily="34" charset="-120"/>
              </a:rPr>
              <a:t>Verified real results on real data, targeting completion by October 2026.</a:t>
            </a:r>
            <a:endParaRPr lang="en-US" sz="1080" dirty="0"/>
          </a:p>
        </p:txBody>
      </p:sp>
      <p:sp>
        <p:nvSpPr>
          <p:cNvPr id="25" name="Shape 23"/>
          <p:cNvSpPr/>
          <p:nvPr/>
        </p:nvSpPr>
        <p:spPr>
          <a:xfrm>
            <a:off x="548640" y="5760720"/>
            <a:ext cx="11091672" cy="685800"/>
          </a:xfrm>
          <a:prstGeom prst="rect">
            <a:avLst/>
          </a:prstGeom>
          <a:solidFill>
            <a:srgbClr val="1E4D3D"/>
          </a:solidFill>
          <a:ln/>
        </p:spPr>
      </p:sp>
      <p:sp>
        <p:nvSpPr>
          <p:cNvPr id="26" name="Text 24"/>
          <p:cNvSpPr/>
          <p:nvPr/>
        </p:nvSpPr>
        <p:spPr>
          <a:xfrm>
            <a:off x="822960" y="5760720"/>
            <a:ext cx="10515600" cy="68580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Pilot ward: Kothrud, Pune   </a:t>
            </a:r>
            <a:r>
              <a:rPr lang="en-US" sz="1250" dirty="0">
                <a:solidFill>
                  <a:srgbClr val="C7D3CF"/>
                </a:solidFill>
                <a:latin typeface="Calibri" pitchFamily="34" charset="0"/>
                <a:ea typeface="Calibri" pitchFamily="34" charset="-122"/>
                <a:cs typeface="Calibri" pitchFamily="34" charset="-120"/>
              </a:rPr>
              <a:t>•   Pipeline: Satellite ingestion → Classification → OSM merge → UEHI scoring   </a:t>
            </a:r>
            <a:r>
              <a:rPr lang="en-US" sz="1250" b="1" dirty="0">
                <a:solidFill>
                  <a:srgbClr val="8FC1A8"/>
                </a:solidFill>
                <a:latin typeface="Calibri" pitchFamily="34" charset="0"/>
                <a:ea typeface="Calibri" pitchFamily="34" charset="-122"/>
                <a:cs typeface="Calibri" pitchFamily="34" charset="-120"/>
              </a:rPr>
              <a:t>•   256 blocks scored</a:t>
            </a:r>
            <a:endParaRPr lang="en-US" sz="1250" dirty="0"/>
          </a:p>
        </p:txBody>
      </p:sp>
      <p:sp>
        <p:nvSpPr>
          <p:cNvPr id="27" name="Text 25"/>
          <p:cNvSpPr/>
          <p:nvPr/>
        </p:nvSpPr>
        <p:spPr>
          <a:xfrm>
            <a:off x="11551615" y="6446520"/>
            <a:ext cx="457200" cy="274320"/>
          </a:xfrm>
          <a:prstGeom prst="rect">
            <a:avLst/>
          </a:prstGeom>
          <a:noFill/>
          <a:ln/>
        </p:spPr>
        <p:txBody>
          <a:bodyPr wrap="square" rtlCol="0" anchor="ctr"/>
          <a:lstStyle/>
          <a:p>
            <a:pPr marL="0" indent="0" algn="r">
              <a:buNone/>
            </a:pPr>
            <a:r>
              <a:rPr lang="en-US" sz="900" dirty="0">
                <a:solidFill>
                  <a:srgbClr val="5B6B66"/>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4D3D"/>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rtlCol="0" anchor="ctr"/>
          <a:lstStyle/>
          <a:p>
            <a:pPr marL="0" indent="0">
              <a:buNone/>
            </a:pPr>
            <a:r>
              <a:rPr lang="en-US" sz="1150" b="1" kern="0" spc="200" dirty="0">
                <a:solidFill>
                  <a:srgbClr val="8FC1A8"/>
                </a:solidFill>
                <a:latin typeface="Calibri" pitchFamily="34" charset="0"/>
                <a:ea typeface="Calibri" pitchFamily="34" charset="-122"/>
                <a:cs typeface="Calibri" pitchFamily="34" charset="-120"/>
              </a:rPr>
              <a:t>FIVE PHASES, END TO END</a:t>
            </a:r>
            <a:endParaRPr lang="en-US" sz="1150" dirty="0"/>
          </a:p>
        </p:txBody>
      </p:sp>
      <p:sp>
        <p:nvSpPr>
          <p:cNvPr id="3" name="Text 1"/>
          <p:cNvSpPr/>
          <p:nvPr/>
        </p:nvSpPr>
        <p:spPr>
          <a:xfrm>
            <a:off x="548640" y="749808"/>
            <a:ext cx="10515600" cy="59436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Architecture &amp; Project Timeline</a:t>
            </a:r>
            <a:endParaRPr lang="en-US" sz="3200" dirty="0"/>
          </a:p>
        </p:txBody>
      </p:sp>
      <p:sp>
        <p:nvSpPr>
          <p:cNvPr id="4" name="Shape 2"/>
          <p:cNvSpPr/>
          <p:nvPr/>
        </p:nvSpPr>
        <p:spPr>
          <a:xfrm>
            <a:off x="548640" y="1737360"/>
            <a:ext cx="2057949" cy="2103120"/>
          </a:xfrm>
          <a:prstGeom prst="rect">
            <a:avLst/>
          </a:prstGeom>
          <a:solidFill>
            <a:srgbClr val="356E59"/>
          </a:solidFill>
          <a:ln w="12700">
            <a:solidFill>
              <a:srgbClr val="4E9C77"/>
            </a:solidFill>
            <a:prstDash val="solid"/>
          </a:ln>
        </p:spPr>
      </p:sp>
      <p:sp>
        <p:nvSpPr>
          <p:cNvPr id="5" name="Shape 3"/>
          <p:cNvSpPr/>
          <p:nvPr/>
        </p:nvSpPr>
        <p:spPr>
          <a:xfrm>
            <a:off x="749808" y="1938528"/>
            <a:ext cx="457200" cy="457200"/>
          </a:xfrm>
          <a:prstGeom prst="ellipse">
            <a:avLst/>
          </a:prstGeom>
          <a:solidFill>
            <a:srgbClr val="4E9C77"/>
          </a:solidFill>
          <a:ln/>
        </p:spPr>
      </p:sp>
      <p:sp>
        <p:nvSpPr>
          <p:cNvPr id="6" name="Text 4"/>
          <p:cNvSpPr/>
          <p:nvPr/>
        </p:nvSpPr>
        <p:spPr>
          <a:xfrm>
            <a:off x="749808" y="1938528"/>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731520" y="2542032"/>
            <a:ext cx="1692189" cy="777240"/>
          </a:xfrm>
          <a:prstGeom prst="rect">
            <a:avLst/>
          </a:prstGeom>
          <a:noFill/>
          <a:ln/>
        </p:spPr>
        <p:txBody>
          <a:bodyPr wrap="square" rtlCol="0" anchor="ctr"/>
          <a:lstStyle/>
          <a:p>
            <a:pPr marL="0" indent="0">
              <a:lnSpc>
                <a:spcPct val="108000"/>
              </a:lnSpc>
              <a:buNone/>
            </a:pPr>
            <a:r>
              <a:rPr lang="en-US" sz="1250" b="1" dirty="0">
                <a:solidFill>
                  <a:srgbClr val="FFFFFF"/>
                </a:solidFill>
                <a:latin typeface="Calibri" pitchFamily="34" charset="0"/>
                <a:ea typeface="Calibri" pitchFamily="34" charset="-122"/>
                <a:cs typeface="Calibri" pitchFamily="34" charset="-120"/>
              </a:rPr>
              <a:t>Satellite Data</a:t>
            </a:r>
            <a:endParaRPr lang="en-US" sz="1250" dirty="0"/>
          </a:p>
          <a:p>
            <a:pPr marL="0" indent="0">
              <a:lnSpc>
                <a:spcPct val="108000"/>
              </a:lnSpc>
              <a:buNone/>
            </a:pPr>
            <a:r>
              <a:rPr lang="en-US" sz="1250" b="1" dirty="0">
                <a:solidFill>
                  <a:srgbClr val="FFFFFF"/>
                </a:solidFill>
                <a:latin typeface="Calibri" pitchFamily="34" charset="0"/>
                <a:ea typeface="Calibri" pitchFamily="34" charset="-122"/>
                <a:cs typeface="Calibri" pitchFamily="34" charset="-120"/>
              </a:rPr>
              <a:t>Ingestion</a:t>
            </a:r>
            <a:endParaRPr lang="en-US" sz="1250" dirty="0"/>
          </a:p>
        </p:txBody>
      </p:sp>
      <p:sp>
        <p:nvSpPr>
          <p:cNvPr id="8" name="Text 6"/>
          <p:cNvSpPr/>
          <p:nvPr/>
        </p:nvSpPr>
        <p:spPr>
          <a:xfrm>
            <a:off x="731520" y="3401568"/>
            <a:ext cx="1692189" cy="274320"/>
          </a:xfrm>
          <a:prstGeom prst="rect">
            <a:avLst/>
          </a:prstGeom>
          <a:noFill/>
          <a:ln/>
        </p:spPr>
        <p:txBody>
          <a:bodyPr wrap="square" rtlCol="0" anchor="ctr"/>
          <a:lstStyle/>
          <a:p>
            <a:pPr marL="0" indent="0">
              <a:buNone/>
            </a:pPr>
            <a:r>
              <a:rPr lang="en-US" sz="1050" b="1" kern="0" spc="150" dirty="0">
                <a:solidFill>
                  <a:srgbClr val="8FC1A8"/>
                </a:solidFill>
                <a:latin typeface="Calibri" pitchFamily="34" charset="0"/>
                <a:ea typeface="Calibri" pitchFamily="34" charset="-122"/>
                <a:cs typeface="Calibri" pitchFamily="34" charset="-120"/>
              </a:rPr>
              <a:t>DONE</a:t>
            </a:r>
            <a:endParaRPr lang="en-US" sz="1050" dirty="0"/>
          </a:p>
        </p:txBody>
      </p:sp>
      <p:sp>
        <p:nvSpPr>
          <p:cNvPr id="9" name="Shape 7"/>
          <p:cNvSpPr/>
          <p:nvPr/>
        </p:nvSpPr>
        <p:spPr>
          <a:xfrm>
            <a:off x="2807757" y="1737360"/>
            <a:ext cx="2057949" cy="2103120"/>
          </a:xfrm>
          <a:prstGeom prst="rect">
            <a:avLst/>
          </a:prstGeom>
          <a:solidFill>
            <a:srgbClr val="356E59"/>
          </a:solidFill>
          <a:ln w="12700">
            <a:solidFill>
              <a:srgbClr val="4E9C77"/>
            </a:solidFill>
            <a:prstDash val="solid"/>
          </a:ln>
        </p:spPr>
      </p:sp>
      <p:sp>
        <p:nvSpPr>
          <p:cNvPr id="10" name="Shape 8"/>
          <p:cNvSpPr/>
          <p:nvPr/>
        </p:nvSpPr>
        <p:spPr>
          <a:xfrm>
            <a:off x="3008925" y="1938528"/>
            <a:ext cx="457200" cy="457200"/>
          </a:xfrm>
          <a:prstGeom prst="ellipse">
            <a:avLst/>
          </a:prstGeom>
          <a:solidFill>
            <a:srgbClr val="4E9C77"/>
          </a:solidFill>
          <a:ln/>
        </p:spPr>
      </p:sp>
      <p:sp>
        <p:nvSpPr>
          <p:cNvPr id="11" name="Text 9"/>
          <p:cNvSpPr/>
          <p:nvPr/>
        </p:nvSpPr>
        <p:spPr>
          <a:xfrm>
            <a:off x="3008925" y="1938528"/>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2990637" y="2542032"/>
            <a:ext cx="1692189" cy="777240"/>
          </a:xfrm>
          <a:prstGeom prst="rect">
            <a:avLst/>
          </a:prstGeom>
          <a:noFill/>
          <a:ln/>
        </p:spPr>
        <p:txBody>
          <a:bodyPr wrap="square" rtlCol="0" anchor="ctr"/>
          <a:lstStyle/>
          <a:p>
            <a:pPr marL="0" indent="0">
              <a:lnSpc>
                <a:spcPct val="108000"/>
              </a:lnSpc>
              <a:buNone/>
            </a:pPr>
            <a:r>
              <a:rPr lang="en-US" sz="1250" b="1" dirty="0">
                <a:solidFill>
                  <a:srgbClr val="FFFFFF"/>
                </a:solidFill>
                <a:latin typeface="Calibri" pitchFamily="34" charset="0"/>
                <a:ea typeface="Calibri" pitchFamily="34" charset="-122"/>
                <a:cs typeface="Calibri" pitchFamily="34" charset="-120"/>
              </a:rPr>
              <a:t>Segmentation &amp;</a:t>
            </a:r>
            <a:endParaRPr lang="en-US" sz="1250" dirty="0"/>
          </a:p>
          <a:p>
            <a:pPr marL="0" indent="0">
              <a:lnSpc>
                <a:spcPct val="108000"/>
              </a:lnSpc>
              <a:buNone/>
            </a:pPr>
            <a:r>
              <a:rPr lang="en-US" sz="1250" b="1" dirty="0">
                <a:solidFill>
                  <a:srgbClr val="FFFFFF"/>
                </a:solidFill>
                <a:latin typeface="Calibri" pitchFamily="34" charset="0"/>
                <a:ea typeface="Calibri" pitchFamily="34" charset="-122"/>
                <a:cs typeface="Calibri" pitchFamily="34" charset="-120"/>
              </a:rPr>
              <a:t>Feature Engineering</a:t>
            </a:r>
            <a:endParaRPr lang="en-US" sz="1250" dirty="0"/>
          </a:p>
        </p:txBody>
      </p:sp>
      <p:sp>
        <p:nvSpPr>
          <p:cNvPr id="13" name="Text 11"/>
          <p:cNvSpPr/>
          <p:nvPr/>
        </p:nvSpPr>
        <p:spPr>
          <a:xfrm>
            <a:off x="2990637" y="3401568"/>
            <a:ext cx="1692189" cy="274320"/>
          </a:xfrm>
          <a:prstGeom prst="rect">
            <a:avLst/>
          </a:prstGeom>
          <a:noFill/>
          <a:ln/>
        </p:spPr>
        <p:txBody>
          <a:bodyPr wrap="square" rtlCol="0" anchor="ctr"/>
          <a:lstStyle/>
          <a:p>
            <a:pPr marL="0" indent="0">
              <a:buNone/>
            </a:pPr>
            <a:r>
              <a:rPr lang="en-US" sz="1050" b="1" kern="0" spc="150" dirty="0">
                <a:solidFill>
                  <a:srgbClr val="8FC1A8"/>
                </a:solidFill>
                <a:latin typeface="Calibri" pitchFamily="34" charset="0"/>
                <a:ea typeface="Calibri" pitchFamily="34" charset="-122"/>
                <a:cs typeface="Calibri" pitchFamily="34" charset="-120"/>
              </a:rPr>
              <a:t>DONE</a:t>
            </a:r>
            <a:endParaRPr lang="en-US" sz="1050" dirty="0"/>
          </a:p>
        </p:txBody>
      </p:sp>
      <p:sp>
        <p:nvSpPr>
          <p:cNvPr id="14" name="Shape 12"/>
          <p:cNvSpPr/>
          <p:nvPr/>
        </p:nvSpPr>
        <p:spPr>
          <a:xfrm>
            <a:off x="5066873" y="1737360"/>
            <a:ext cx="2057949" cy="2103120"/>
          </a:xfrm>
          <a:prstGeom prst="rect">
            <a:avLst/>
          </a:prstGeom>
          <a:solidFill>
            <a:srgbClr val="356E59"/>
          </a:solidFill>
          <a:ln w="12700">
            <a:solidFill>
              <a:srgbClr val="4E9C77"/>
            </a:solidFill>
            <a:prstDash val="solid"/>
          </a:ln>
        </p:spPr>
      </p:sp>
      <p:sp>
        <p:nvSpPr>
          <p:cNvPr id="15" name="Shape 13"/>
          <p:cNvSpPr/>
          <p:nvPr/>
        </p:nvSpPr>
        <p:spPr>
          <a:xfrm>
            <a:off x="5268041" y="1938528"/>
            <a:ext cx="457200" cy="457200"/>
          </a:xfrm>
          <a:prstGeom prst="ellipse">
            <a:avLst/>
          </a:prstGeom>
          <a:solidFill>
            <a:srgbClr val="4E9C77"/>
          </a:solidFill>
          <a:ln/>
        </p:spPr>
      </p:sp>
      <p:sp>
        <p:nvSpPr>
          <p:cNvPr id="16" name="Text 14"/>
          <p:cNvSpPr/>
          <p:nvPr/>
        </p:nvSpPr>
        <p:spPr>
          <a:xfrm>
            <a:off x="5268041" y="1938528"/>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5249753" y="2542032"/>
            <a:ext cx="1692189" cy="777240"/>
          </a:xfrm>
          <a:prstGeom prst="rect">
            <a:avLst/>
          </a:prstGeom>
          <a:noFill/>
          <a:ln/>
        </p:spPr>
        <p:txBody>
          <a:bodyPr wrap="square" rtlCol="0" anchor="ctr"/>
          <a:lstStyle/>
          <a:p>
            <a:pPr marL="0" indent="0">
              <a:lnSpc>
                <a:spcPct val="108000"/>
              </a:lnSpc>
              <a:buNone/>
            </a:pPr>
            <a:r>
              <a:rPr lang="en-US" sz="1250" b="1" dirty="0">
                <a:solidFill>
                  <a:srgbClr val="FFFFFF"/>
                </a:solidFill>
                <a:latin typeface="Calibri" pitchFamily="34" charset="0"/>
                <a:ea typeface="Calibri" pitchFamily="34" charset="-122"/>
                <a:cs typeface="Calibri" pitchFamily="34" charset="-120"/>
              </a:rPr>
              <a:t>3D UEHI</a:t>
            </a:r>
            <a:endParaRPr lang="en-US" sz="1250" dirty="0"/>
          </a:p>
          <a:p>
            <a:pPr marL="0" indent="0">
              <a:lnSpc>
                <a:spcPct val="108000"/>
              </a:lnSpc>
              <a:buNone/>
            </a:pPr>
            <a:r>
              <a:rPr lang="en-US" sz="1250" b="1" dirty="0">
                <a:solidFill>
                  <a:srgbClr val="FFFFFF"/>
                </a:solidFill>
                <a:latin typeface="Calibri" pitchFamily="34" charset="0"/>
                <a:ea typeface="Calibri" pitchFamily="34" charset="-122"/>
                <a:cs typeface="Calibri" pitchFamily="34" charset="-120"/>
              </a:rPr>
              <a:t>Scoring</a:t>
            </a:r>
            <a:endParaRPr lang="en-US" sz="1250" dirty="0"/>
          </a:p>
        </p:txBody>
      </p:sp>
      <p:sp>
        <p:nvSpPr>
          <p:cNvPr id="18" name="Text 16"/>
          <p:cNvSpPr/>
          <p:nvPr/>
        </p:nvSpPr>
        <p:spPr>
          <a:xfrm>
            <a:off x="5249753" y="3401568"/>
            <a:ext cx="1692189" cy="274320"/>
          </a:xfrm>
          <a:prstGeom prst="rect">
            <a:avLst/>
          </a:prstGeom>
          <a:noFill/>
          <a:ln/>
        </p:spPr>
        <p:txBody>
          <a:bodyPr wrap="square" rtlCol="0" anchor="ctr"/>
          <a:lstStyle/>
          <a:p>
            <a:pPr marL="0" indent="0">
              <a:buNone/>
            </a:pPr>
            <a:r>
              <a:rPr lang="en-US" sz="1050" b="1" kern="0" spc="150" dirty="0">
                <a:solidFill>
                  <a:srgbClr val="8FC1A8"/>
                </a:solidFill>
                <a:latin typeface="Calibri" pitchFamily="34" charset="0"/>
                <a:ea typeface="Calibri" pitchFamily="34" charset="-122"/>
                <a:cs typeface="Calibri" pitchFamily="34" charset="-120"/>
              </a:rPr>
              <a:t>DONE</a:t>
            </a:r>
            <a:endParaRPr lang="en-US" sz="1050" dirty="0"/>
          </a:p>
        </p:txBody>
      </p:sp>
      <p:sp>
        <p:nvSpPr>
          <p:cNvPr id="19" name="Shape 17"/>
          <p:cNvSpPr/>
          <p:nvPr/>
        </p:nvSpPr>
        <p:spPr>
          <a:xfrm>
            <a:off x="7325990" y="1737360"/>
            <a:ext cx="2057949" cy="2103120"/>
          </a:xfrm>
          <a:prstGeom prst="rect">
            <a:avLst/>
          </a:prstGeom>
          <a:solidFill>
            <a:srgbClr val="2A2320"/>
          </a:solidFill>
          <a:ln w="12700">
            <a:solidFill>
              <a:srgbClr val="E8622C"/>
            </a:solidFill>
            <a:prstDash val="solid"/>
          </a:ln>
        </p:spPr>
      </p:sp>
      <p:sp>
        <p:nvSpPr>
          <p:cNvPr id="20" name="Shape 18"/>
          <p:cNvSpPr/>
          <p:nvPr/>
        </p:nvSpPr>
        <p:spPr>
          <a:xfrm>
            <a:off x="7527158" y="1938528"/>
            <a:ext cx="457200" cy="457200"/>
          </a:xfrm>
          <a:prstGeom prst="ellipse">
            <a:avLst/>
          </a:prstGeom>
          <a:solidFill>
            <a:srgbClr val="E8622C"/>
          </a:solidFill>
          <a:ln/>
        </p:spPr>
      </p:sp>
      <p:sp>
        <p:nvSpPr>
          <p:cNvPr id="21" name="Text 19"/>
          <p:cNvSpPr/>
          <p:nvPr/>
        </p:nvSpPr>
        <p:spPr>
          <a:xfrm>
            <a:off x="7527158" y="1938528"/>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20"/>
          <p:cNvSpPr/>
          <p:nvPr/>
        </p:nvSpPr>
        <p:spPr>
          <a:xfrm>
            <a:off x="7508870" y="2542032"/>
            <a:ext cx="1692189" cy="777240"/>
          </a:xfrm>
          <a:prstGeom prst="rect">
            <a:avLst/>
          </a:prstGeom>
          <a:noFill/>
          <a:ln/>
        </p:spPr>
        <p:txBody>
          <a:bodyPr wrap="square" rtlCol="0" anchor="ctr"/>
          <a:lstStyle/>
          <a:p>
            <a:pPr marL="0" indent="0">
              <a:lnSpc>
                <a:spcPct val="108000"/>
              </a:lnSpc>
              <a:buNone/>
            </a:pPr>
            <a:r>
              <a:rPr lang="en-US" sz="1250" b="1" dirty="0">
                <a:solidFill>
                  <a:srgbClr val="FFFFFF"/>
                </a:solidFill>
                <a:latin typeface="Calibri" pitchFamily="34" charset="0"/>
                <a:ea typeface="Calibri" pitchFamily="34" charset="-122"/>
                <a:cs typeface="Calibri" pitchFamily="34" charset="-120"/>
              </a:rPr>
              <a:t>Carbon Sink</a:t>
            </a:r>
            <a:endParaRPr lang="en-US" sz="1250" dirty="0"/>
          </a:p>
          <a:p>
            <a:pPr marL="0" indent="0">
              <a:lnSpc>
                <a:spcPct val="108000"/>
              </a:lnSpc>
              <a:buNone/>
            </a:pPr>
            <a:r>
              <a:rPr lang="en-US" sz="1250" b="1" dirty="0">
                <a:solidFill>
                  <a:srgbClr val="FFFFFF"/>
                </a:solidFill>
                <a:latin typeface="Calibri" pitchFamily="34" charset="0"/>
                <a:ea typeface="Calibri" pitchFamily="34" charset="-122"/>
                <a:cs typeface="Calibri" pitchFamily="34" charset="-120"/>
              </a:rPr>
              <a:t>Planning</a:t>
            </a:r>
            <a:endParaRPr lang="en-US" sz="1250" dirty="0"/>
          </a:p>
        </p:txBody>
      </p:sp>
      <p:sp>
        <p:nvSpPr>
          <p:cNvPr id="23" name="Text 21"/>
          <p:cNvSpPr/>
          <p:nvPr/>
        </p:nvSpPr>
        <p:spPr>
          <a:xfrm>
            <a:off x="7508870" y="3401568"/>
            <a:ext cx="1692189" cy="274320"/>
          </a:xfrm>
          <a:prstGeom prst="rect">
            <a:avLst/>
          </a:prstGeom>
          <a:noFill/>
          <a:ln/>
        </p:spPr>
        <p:txBody>
          <a:bodyPr wrap="square" rtlCol="0" anchor="ctr"/>
          <a:lstStyle/>
          <a:p>
            <a:pPr marL="0" indent="0">
              <a:buNone/>
            </a:pPr>
            <a:r>
              <a:rPr lang="en-US" sz="1050" b="1" kern="0" spc="150" dirty="0">
                <a:solidFill>
                  <a:srgbClr val="F0A98A"/>
                </a:solidFill>
                <a:latin typeface="Calibri" pitchFamily="34" charset="0"/>
                <a:ea typeface="Calibri" pitchFamily="34" charset="-122"/>
                <a:cs typeface="Calibri" pitchFamily="34" charset="-120"/>
              </a:rPr>
              <a:t>NEXT</a:t>
            </a:r>
            <a:endParaRPr lang="en-US" sz="1050" dirty="0"/>
          </a:p>
        </p:txBody>
      </p:sp>
      <p:sp>
        <p:nvSpPr>
          <p:cNvPr id="24" name="Shape 22"/>
          <p:cNvSpPr/>
          <p:nvPr/>
        </p:nvSpPr>
        <p:spPr>
          <a:xfrm>
            <a:off x="9585107" y="1737360"/>
            <a:ext cx="2057949" cy="2103120"/>
          </a:xfrm>
          <a:prstGeom prst="rect">
            <a:avLst/>
          </a:prstGeom>
          <a:solidFill>
            <a:srgbClr val="2A2320"/>
          </a:solidFill>
          <a:ln w="12700">
            <a:solidFill>
              <a:srgbClr val="E8622C"/>
            </a:solidFill>
            <a:prstDash val="solid"/>
          </a:ln>
        </p:spPr>
      </p:sp>
      <p:sp>
        <p:nvSpPr>
          <p:cNvPr id="25" name="Shape 23"/>
          <p:cNvSpPr/>
          <p:nvPr/>
        </p:nvSpPr>
        <p:spPr>
          <a:xfrm>
            <a:off x="9786275" y="1938528"/>
            <a:ext cx="457200" cy="457200"/>
          </a:xfrm>
          <a:prstGeom prst="ellipse">
            <a:avLst/>
          </a:prstGeom>
          <a:solidFill>
            <a:srgbClr val="E8622C"/>
          </a:solidFill>
          <a:ln/>
        </p:spPr>
      </p:sp>
      <p:sp>
        <p:nvSpPr>
          <p:cNvPr id="26" name="Text 24"/>
          <p:cNvSpPr/>
          <p:nvPr/>
        </p:nvSpPr>
        <p:spPr>
          <a:xfrm>
            <a:off x="9786275" y="1938528"/>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7" name="Text 25"/>
          <p:cNvSpPr/>
          <p:nvPr/>
        </p:nvSpPr>
        <p:spPr>
          <a:xfrm>
            <a:off x="9767987" y="2542032"/>
            <a:ext cx="1692189" cy="777240"/>
          </a:xfrm>
          <a:prstGeom prst="rect">
            <a:avLst/>
          </a:prstGeom>
          <a:noFill/>
          <a:ln/>
        </p:spPr>
        <p:txBody>
          <a:bodyPr wrap="square" rtlCol="0" anchor="ctr"/>
          <a:lstStyle/>
          <a:p>
            <a:pPr marL="0" indent="0">
              <a:lnSpc>
                <a:spcPct val="108000"/>
              </a:lnSpc>
              <a:buNone/>
            </a:pPr>
            <a:r>
              <a:rPr lang="en-US" sz="1250" b="1" dirty="0">
                <a:solidFill>
                  <a:srgbClr val="FFFFFF"/>
                </a:solidFill>
                <a:latin typeface="Calibri" pitchFamily="34" charset="0"/>
                <a:ea typeface="Calibri" pitchFamily="34" charset="-122"/>
                <a:cs typeface="Calibri" pitchFamily="34" charset="-120"/>
              </a:rPr>
              <a:t>API &amp; Dashboard</a:t>
            </a:r>
            <a:endParaRPr lang="en-US" sz="1250" dirty="0"/>
          </a:p>
          <a:p>
            <a:pPr marL="0" indent="0">
              <a:lnSpc>
                <a:spcPct val="108000"/>
              </a:lnSpc>
              <a:buNone/>
            </a:pPr>
            <a:r>
              <a:rPr lang="en-US" sz="1250" b="1" dirty="0">
                <a:solidFill>
                  <a:srgbClr val="FFFFFF"/>
                </a:solidFill>
                <a:latin typeface="Calibri" pitchFamily="34" charset="0"/>
                <a:ea typeface="Calibri" pitchFamily="34" charset="-122"/>
                <a:cs typeface="Calibri" pitchFamily="34" charset="-120"/>
              </a:rPr>
              <a:t>Deployment</a:t>
            </a:r>
            <a:endParaRPr lang="en-US" sz="1250" dirty="0"/>
          </a:p>
        </p:txBody>
      </p:sp>
      <p:sp>
        <p:nvSpPr>
          <p:cNvPr id="28" name="Text 26"/>
          <p:cNvSpPr/>
          <p:nvPr/>
        </p:nvSpPr>
        <p:spPr>
          <a:xfrm>
            <a:off x="9767987" y="3401568"/>
            <a:ext cx="1692189" cy="274320"/>
          </a:xfrm>
          <a:prstGeom prst="rect">
            <a:avLst/>
          </a:prstGeom>
          <a:noFill/>
          <a:ln/>
        </p:spPr>
        <p:txBody>
          <a:bodyPr wrap="square" rtlCol="0" anchor="ctr"/>
          <a:lstStyle/>
          <a:p>
            <a:pPr marL="0" indent="0">
              <a:buNone/>
            </a:pPr>
            <a:r>
              <a:rPr lang="en-US" sz="1050" b="1" kern="0" spc="150" dirty="0">
                <a:solidFill>
                  <a:srgbClr val="F0A98A"/>
                </a:solidFill>
                <a:latin typeface="Calibri" pitchFamily="34" charset="0"/>
                <a:ea typeface="Calibri" pitchFamily="34" charset="-122"/>
                <a:cs typeface="Calibri" pitchFamily="34" charset="-120"/>
              </a:rPr>
              <a:t>NEXT</a:t>
            </a:r>
            <a:endParaRPr lang="en-US" sz="1050" dirty="0"/>
          </a:p>
        </p:txBody>
      </p:sp>
      <p:sp>
        <p:nvSpPr>
          <p:cNvPr id="29" name="Shape 27"/>
          <p:cNvSpPr/>
          <p:nvPr/>
        </p:nvSpPr>
        <p:spPr>
          <a:xfrm>
            <a:off x="548640" y="4114800"/>
            <a:ext cx="11091672" cy="2148840"/>
          </a:xfrm>
          <a:prstGeom prst="rect">
            <a:avLst/>
          </a:prstGeom>
          <a:solidFill>
            <a:srgbClr val="2A5F4C"/>
          </a:solidFill>
          <a:ln/>
        </p:spPr>
      </p:sp>
      <p:sp>
        <p:nvSpPr>
          <p:cNvPr id="30" name="Text 28"/>
          <p:cNvSpPr/>
          <p:nvPr/>
        </p:nvSpPr>
        <p:spPr>
          <a:xfrm>
            <a:off x="868680" y="4315968"/>
            <a:ext cx="3657600" cy="274320"/>
          </a:xfrm>
          <a:prstGeom prst="rect">
            <a:avLst/>
          </a:prstGeom>
          <a:noFill/>
          <a:ln/>
        </p:spPr>
        <p:txBody>
          <a:bodyPr wrap="square" rtlCol="0" anchor="ctr"/>
          <a:lstStyle/>
          <a:p>
            <a:pPr marL="0" indent="0">
              <a:buNone/>
            </a:pPr>
            <a:r>
              <a:rPr lang="en-US" sz="1200" b="1" kern="0" spc="200" dirty="0">
                <a:solidFill>
                  <a:srgbClr val="E8622C"/>
                </a:solidFill>
                <a:latin typeface="Calibri" pitchFamily="34" charset="0"/>
                <a:ea typeface="Calibri" pitchFamily="34" charset="-122"/>
                <a:cs typeface="Calibri" pitchFamily="34" charset="-120"/>
              </a:rPr>
              <a:t>CURRENT STATUS</a:t>
            </a:r>
            <a:endParaRPr lang="en-US" sz="1200" dirty="0"/>
          </a:p>
        </p:txBody>
      </p:sp>
      <p:sp>
        <p:nvSpPr>
          <p:cNvPr id="31" name="Text 29"/>
          <p:cNvSpPr/>
          <p:nvPr/>
        </p:nvSpPr>
        <p:spPr>
          <a:xfrm>
            <a:off x="868680" y="4645152"/>
            <a:ext cx="10332720" cy="1508760"/>
          </a:xfrm>
          <a:prstGeom prst="rect">
            <a:avLst/>
          </a:prstGeom>
          <a:noFill/>
          <a:ln/>
        </p:spPr>
        <p:txBody>
          <a:bodyPr wrap="square" rtlCol="0" anchor="ctr"/>
          <a:lstStyle/>
          <a:p>
            <a:pPr marL="228600" indent="-228600">
              <a:lnSpc>
                <a:spcPct val="125000"/>
              </a:lnSpc>
              <a:spcAft>
                <a:spcPts val="600"/>
              </a:spcAft>
              <a:buSzPct val="100000"/>
              <a:buChar char="•"/>
            </a:pPr>
            <a:r>
              <a:rPr lang="en-US" sz="1350" dirty="0">
                <a:solidFill>
                  <a:srgbClr val="DCE6E2"/>
                </a:solidFill>
                <a:latin typeface="Calibri" pitchFamily="34" charset="0"/>
                <a:ea typeface="Calibri" pitchFamily="34" charset="-122"/>
                <a:cs typeface="Calibri" pitchFamily="34" charset="-120"/>
              </a:rPr>
              <a:t>Phases 1–3 fully implemented and executed on our test region: Kothrud, Pune.</a:t>
            </a:r>
            <a:endParaRPr lang="en-US" sz="1350" dirty="0"/>
          </a:p>
          <a:p>
            <a:pPr marL="228600" indent="-228600">
              <a:lnSpc>
                <a:spcPct val="125000"/>
              </a:lnSpc>
              <a:spcAft>
                <a:spcPts val="600"/>
              </a:spcAft>
              <a:buSzPct val="100000"/>
              <a:buChar char="•"/>
            </a:pPr>
            <a:r>
              <a:rPr lang="en-US" sz="1350" dirty="0">
                <a:solidFill>
                  <a:srgbClr val="DCE6E2"/>
                </a:solidFill>
                <a:latin typeface="Calibri" pitchFamily="34" charset="0"/>
                <a:ea typeface="Calibri" pitchFamily="34" charset="-122"/>
                <a:cs typeface="Calibri" pitchFamily="34" charset="-120"/>
              </a:rPr>
              <a:t>Real satellite composites generated; NDVI and land-cover segmentation run on live data.</a:t>
            </a:r>
            <a:endParaRPr lang="en-US" sz="1350" dirty="0"/>
          </a:p>
          <a:p>
            <a:pPr marL="228600" indent="-228600">
              <a:lnSpc>
                <a:spcPct val="125000"/>
              </a:lnSpc>
              <a:spcAft>
                <a:spcPts val="600"/>
              </a:spcAft>
              <a:buSzPct val="100000"/>
              <a:buChar char="•"/>
            </a:pPr>
            <a:r>
              <a:rPr lang="en-US" sz="1350" dirty="0">
                <a:solidFill>
                  <a:srgbClr val="DCE6E2"/>
                </a:solidFill>
                <a:latin typeface="Calibri" pitchFamily="34" charset="0"/>
                <a:ea typeface="Calibri" pitchFamily="34" charset="-122"/>
                <a:cs typeface="Calibri" pitchFamily="34" charset="-120"/>
              </a:rPr>
              <a:t>Scoring engine executed, producing real block-level UEHI scores and risk tiers.</a:t>
            </a:r>
            <a:endParaRPr lang="en-US" sz="1350" dirty="0"/>
          </a:p>
          <a:p>
            <a:pPr marL="228600" indent="-228600">
              <a:lnSpc>
                <a:spcPct val="125000"/>
              </a:lnSpc>
              <a:spcAft>
                <a:spcPts val="600"/>
              </a:spcAft>
              <a:buSzPct val="100000"/>
              <a:buChar char="•"/>
            </a:pPr>
            <a:r>
              <a:rPr lang="en-US" sz="1350" dirty="0">
                <a:solidFill>
                  <a:srgbClr val="DCE6E2"/>
                </a:solidFill>
                <a:latin typeface="Calibri" pitchFamily="34" charset="0"/>
                <a:ea typeface="Calibri" pitchFamily="34" charset="-122"/>
                <a:cs typeface="Calibri" pitchFamily="34" charset="-120"/>
              </a:rPr>
              <a:t>Carbon-sink planning and dashboard deployment are next, targeting October 2026.</a:t>
            </a:r>
            <a:endParaRPr lang="en-US" sz="1350" dirty="0"/>
          </a:p>
        </p:txBody>
      </p:sp>
      <p:sp>
        <p:nvSpPr>
          <p:cNvPr id="32" name="Text 30"/>
          <p:cNvSpPr/>
          <p:nvPr/>
        </p:nvSpPr>
        <p:spPr>
          <a:xfrm>
            <a:off x="11551615" y="6446520"/>
            <a:ext cx="457200" cy="274320"/>
          </a:xfrm>
          <a:prstGeom prst="rect">
            <a:avLst/>
          </a:prstGeom>
          <a:noFill/>
          <a:ln/>
        </p:spPr>
        <p:txBody>
          <a:bodyPr wrap="square" rtlCol="0" anchor="ctr"/>
          <a:lstStyle/>
          <a:p>
            <a:pPr marL="0" indent="0" algn="r">
              <a:buNone/>
            </a:pPr>
            <a:r>
              <a:rPr lang="en-US" sz="900" dirty="0">
                <a:solidFill>
                  <a:srgbClr val="8FA69E"/>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rtlCol="0" anchor="ctr"/>
          <a:lstStyle/>
          <a:p>
            <a:pPr marL="0" indent="0">
              <a:buNone/>
            </a:pPr>
            <a:r>
              <a:rPr lang="en-US" sz="1150" b="1" kern="0" spc="200" dirty="0">
                <a:solidFill>
                  <a:srgbClr val="E8622C"/>
                </a:solidFill>
                <a:latin typeface="Calibri" pitchFamily="34" charset="0"/>
                <a:ea typeface="Calibri" pitchFamily="34" charset="-122"/>
                <a:cs typeface="Calibri" pitchFamily="34" charset="-120"/>
              </a:rPr>
              <a:t>CASE STUDY — KOTHRUD, PUNE</a:t>
            </a:r>
            <a:endParaRPr lang="en-US" sz="1150" dirty="0"/>
          </a:p>
        </p:txBody>
      </p:sp>
      <p:sp>
        <p:nvSpPr>
          <p:cNvPr id="3" name="Text 1"/>
          <p:cNvSpPr/>
          <p:nvPr/>
        </p:nvSpPr>
        <p:spPr>
          <a:xfrm>
            <a:off x="548640" y="749808"/>
            <a:ext cx="10789920" cy="594360"/>
          </a:xfrm>
          <a:prstGeom prst="rect">
            <a:avLst/>
          </a:prstGeom>
          <a:noFill/>
          <a:ln/>
        </p:spPr>
        <p:txBody>
          <a:bodyPr wrap="square" rtlCol="0" anchor="ctr"/>
          <a:lstStyle/>
          <a:p>
            <a:pPr marL="0" indent="0">
              <a:buNone/>
            </a:pPr>
            <a:r>
              <a:rPr lang="en-US" sz="3000" b="1" dirty="0">
                <a:solidFill>
                  <a:srgbClr val="1A211F"/>
                </a:solidFill>
                <a:latin typeface="Cambria" pitchFamily="34" charset="0"/>
                <a:ea typeface="Cambria" pitchFamily="34" charset="-122"/>
                <a:cs typeface="Cambria" pitchFamily="34" charset="-120"/>
              </a:rPr>
              <a:t>Progress Update: Pipeline Execution</a:t>
            </a:r>
            <a:endParaRPr lang="en-US" sz="3000" dirty="0"/>
          </a:p>
        </p:txBody>
      </p:sp>
      <p:pic>
        <p:nvPicPr>
          <p:cNvPr id="4" name="Image 0" descr="assets/ndvi_segmentation.png"/>
          <p:cNvPicPr>
            <a:picLocks noChangeAspect="1"/>
          </p:cNvPicPr>
          <p:nvPr/>
        </p:nvPicPr>
        <p:blipFill>
          <a:blip r:embed="rId3"/>
          <a:stretch>
            <a:fillRect/>
          </a:stretch>
        </p:blipFill>
        <p:spPr>
          <a:xfrm>
            <a:off x="548640" y="1600200"/>
            <a:ext cx="7360920" cy="2496312"/>
          </a:xfrm>
          <a:prstGeom prst="rect">
            <a:avLst/>
          </a:prstGeom>
        </p:spPr>
      </p:pic>
      <p:sp>
        <p:nvSpPr>
          <p:cNvPr id="5" name="Shape 2"/>
          <p:cNvSpPr/>
          <p:nvPr/>
        </p:nvSpPr>
        <p:spPr>
          <a:xfrm>
            <a:off x="548640" y="1600200"/>
            <a:ext cx="7360920" cy="2496312"/>
          </a:xfrm>
          <a:prstGeom prst="rect">
            <a:avLst/>
          </a:prstGeom>
          <a:ln w="12700">
            <a:solidFill>
              <a:srgbClr val="DCE3E0"/>
            </a:solidFill>
            <a:prstDash val="solid"/>
          </a:ln>
        </p:spPr>
      </p:sp>
      <p:sp>
        <p:nvSpPr>
          <p:cNvPr id="6" name="Text 3"/>
          <p:cNvSpPr/>
          <p:nvPr/>
        </p:nvSpPr>
        <p:spPr>
          <a:xfrm>
            <a:off x="548640" y="4187952"/>
            <a:ext cx="7360920" cy="594360"/>
          </a:xfrm>
          <a:prstGeom prst="rect">
            <a:avLst/>
          </a:prstGeom>
          <a:noFill/>
          <a:ln/>
        </p:spPr>
        <p:txBody>
          <a:bodyPr wrap="square" rtlCol="0" anchor="ctr"/>
          <a:lstStyle/>
          <a:p>
            <a:pPr marL="0" indent="0">
              <a:lnSpc>
                <a:spcPct val="120000"/>
              </a:lnSpc>
              <a:buNone/>
            </a:pPr>
            <a:r>
              <a:rPr lang="en-US" sz="1100" i="1" dirty="0">
                <a:solidFill>
                  <a:srgbClr val="5B6B66"/>
                </a:solidFill>
                <a:latin typeface="Calibri" pitchFamily="34" charset="0"/>
                <a:ea typeface="Calibri" pitchFamily="34" charset="-122"/>
                <a:cs typeface="Calibri" pitchFamily="34" charset="-120"/>
              </a:rPr>
              <a:t>Sentinel-2 composite → NDVI → threshold-classified land cover, visually validated against known landmarks (Vetal Tekdi canopy, Karve Road built-up area).</a:t>
            </a:r>
            <a:endParaRPr lang="en-US" sz="1100" dirty="0"/>
          </a:p>
        </p:txBody>
      </p:sp>
      <p:sp>
        <p:nvSpPr>
          <p:cNvPr id="7" name="Shape 4"/>
          <p:cNvSpPr/>
          <p:nvPr/>
        </p:nvSpPr>
        <p:spPr>
          <a:xfrm>
            <a:off x="8138160" y="1600200"/>
            <a:ext cx="3502152" cy="749808"/>
          </a:xfrm>
          <a:prstGeom prst="rect">
            <a:avLst/>
          </a:prstGeom>
          <a:solidFill>
            <a:srgbClr val="EEF2F0"/>
          </a:solidFill>
          <a:ln/>
        </p:spPr>
      </p:sp>
      <p:sp>
        <p:nvSpPr>
          <p:cNvPr id="8" name="Shape 5"/>
          <p:cNvSpPr/>
          <p:nvPr/>
        </p:nvSpPr>
        <p:spPr>
          <a:xfrm>
            <a:off x="8138160" y="1600200"/>
            <a:ext cx="91440" cy="749808"/>
          </a:xfrm>
          <a:prstGeom prst="rect">
            <a:avLst/>
          </a:prstGeom>
          <a:solidFill>
            <a:srgbClr val="4E9C77"/>
          </a:solidFill>
          <a:ln/>
        </p:spPr>
      </p:sp>
      <p:sp>
        <p:nvSpPr>
          <p:cNvPr id="9" name="Text 6"/>
          <p:cNvSpPr/>
          <p:nvPr/>
        </p:nvSpPr>
        <p:spPr>
          <a:xfrm>
            <a:off x="8366760" y="1673352"/>
            <a:ext cx="1371600" cy="603504"/>
          </a:xfrm>
          <a:prstGeom prst="rect">
            <a:avLst/>
          </a:prstGeom>
          <a:noFill/>
          <a:ln/>
        </p:spPr>
        <p:txBody>
          <a:bodyPr wrap="square" rtlCol="0" anchor="ctr"/>
          <a:lstStyle/>
          <a:p>
            <a:pPr marL="0" indent="0">
              <a:buNone/>
            </a:pPr>
            <a:r>
              <a:rPr lang="en-US" sz="2600" b="1" dirty="0">
                <a:solidFill>
                  <a:srgbClr val="1A211F"/>
                </a:solidFill>
                <a:latin typeface="Cambria" pitchFamily="34" charset="0"/>
                <a:ea typeface="Cambria" pitchFamily="34" charset="-122"/>
                <a:cs typeface="Cambria" pitchFamily="34" charset="-120"/>
              </a:rPr>
              <a:t>24.0%</a:t>
            </a:r>
            <a:endParaRPr lang="en-US" sz="2600" dirty="0"/>
          </a:p>
        </p:txBody>
      </p:sp>
      <p:sp>
        <p:nvSpPr>
          <p:cNvPr id="10" name="Text 7"/>
          <p:cNvSpPr/>
          <p:nvPr/>
        </p:nvSpPr>
        <p:spPr>
          <a:xfrm>
            <a:off x="9692640" y="1673352"/>
            <a:ext cx="1828800" cy="603504"/>
          </a:xfrm>
          <a:prstGeom prst="rect">
            <a:avLst/>
          </a:prstGeom>
          <a:noFill/>
          <a:ln/>
        </p:spPr>
        <p:txBody>
          <a:bodyPr wrap="square" rtlCol="0" anchor="ctr"/>
          <a:lstStyle/>
          <a:p>
            <a:pPr marL="0" indent="0">
              <a:buNone/>
            </a:pPr>
            <a:r>
              <a:rPr lang="en-US" sz="1300" dirty="0">
                <a:solidFill>
                  <a:srgbClr val="5B6B66"/>
                </a:solidFill>
                <a:latin typeface="Calibri" pitchFamily="34" charset="0"/>
                <a:ea typeface="Calibri" pitchFamily="34" charset="-122"/>
                <a:cs typeface="Calibri" pitchFamily="34" charset="-120"/>
              </a:rPr>
              <a:t>Canopy</a:t>
            </a:r>
            <a:endParaRPr lang="en-US" sz="1300" dirty="0"/>
          </a:p>
        </p:txBody>
      </p:sp>
      <p:sp>
        <p:nvSpPr>
          <p:cNvPr id="11" name="Shape 8"/>
          <p:cNvSpPr/>
          <p:nvPr/>
        </p:nvSpPr>
        <p:spPr>
          <a:xfrm>
            <a:off x="8138160" y="2496312"/>
            <a:ext cx="3502152" cy="749808"/>
          </a:xfrm>
          <a:prstGeom prst="rect">
            <a:avLst/>
          </a:prstGeom>
          <a:solidFill>
            <a:srgbClr val="EEF2F0"/>
          </a:solidFill>
          <a:ln/>
        </p:spPr>
      </p:sp>
      <p:sp>
        <p:nvSpPr>
          <p:cNvPr id="12" name="Shape 9"/>
          <p:cNvSpPr/>
          <p:nvPr/>
        </p:nvSpPr>
        <p:spPr>
          <a:xfrm>
            <a:off x="8138160" y="2496312"/>
            <a:ext cx="91440" cy="749808"/>
          </a:xfrm>
          <a:prstGeom prst="rect">
            <a:avLst/>
          </a:prstGeom>
          <a:solidFill>
            <a:srgbClr val="E8622C"/>
          </a:solidFill>
          <a:ln/>
        </p:spPr>
      </p:sp>
      <p:sp>
        <p:nvSpPr>
          <p:cNvPr id="13" name="Text 10"/>
          <p:cNvSpPr/>
          <p:nvPr/>
        </p:nvSpPr>
        <p:spPr>
          <a:xfrm>
            <a:off x="8366760" y="2569464"/>
            <a:ext cx="1371600" cy="603504"/>
          </a:xfrm>
          <a:prstGeom prst="rect">
            <a:avLst/>
          </a:prstGeom>
          <a:noFill/>
          <a:ln/>
        </p:spPr>
        <p:txBody>
          <a:bodyPr wrap="square" rtlCol="0" anchor="ctr"/>
          <a:lstStyle/>
          <a:p>
            <a:pPr marL="0" indent="0">
              <a:buNone/>
            </a:pPr>
            <a:r>
              <a:rPr lang="en-US" sz="2600" b="1" dirty="0">
                <a:solidFill>
                  <a:srgbClr val="1A211F"/>
                </a:solidFill>
                <a:latin typeface="Cambria" pitchFamily="34" charset="0"/>
                <a:ea typeface="Cambria" pitchFamily="34" charset="-122"/>
                <a:cs typeface="Cambria" pitchFamily="34" charset="-120"/>
              </a:rPr>
              <a:t>11.1%</a:t>
            </a:r>
            <a:endParaRPr lang="en-US" sz="2600" dirty="0"/>
          </a:p>
        </p:txBody>
      </p:sp>
      <p:sp>
        <p:nvSpPr>
          <p:cNvPr id="14" name="Text 11"/>
          <p:cNvSpPr/>
          <p:nvPr/>
        </p:nvSpPr>
        <p:spPr>
          <a:xfrm>
            <a:off x="9692640" y="2569464"/>
            <a:ext cx="1828800" cy="603504"/>
          </a:xfrm>
          <a:prstGeom prst="rect">
            <a:avLst/>
          </a:prstGeom>
          <a:noFill/>
          <a:ln/>
        </p:spPr>
        <p:txBody>
          <a:bodyPr wrap="square" rtlCol="0" anchor="ctr"/>
          <a:lstStyle/>
          <a:p>
            <a:pPr marL="0" indent="0">
              <a:buNone/>
            </a:pPr>
            <a:r>
              <a:rPr lang="en-US" sz="1300" dirty="0">
                <a:solidFill>
                  <a:srgbClr val="5B6B66"/>
                </a:solidFill>
                <a:latin typeface="Calibri" pitchFamily="34" charset="0"/>
                <a:ea typeface="Calibri" pitchFamily="34" charset="-122"/>
                <a:cs typeface="Calibri" pitchFamily="34" charset="-120"/>
              </a:rPr>
              <a:t>Impervious</a:t>
            </a:r>
            <a:endParaRPr lang="en-US" sz="1300" dirty="0"/>
          </a:p>
        </p:txBody>
      </p:sp>
      <p:sp>
        <p:nvSpPr>
          <p:cNvPr id="15" name="Shape 12"/>
          <p:cNvSpPr/>
          <p:nvPr/>
        </p:nvSpPr>
        <p:spPr>
          <a:xfrm>
            <a:off x="8138160" y="3392424"/>
            <a:ext cx="3502152" cy="749808"/>
          </a:xfrm>
          <a:prstGeom prst="rect">
            <a:avLst/>
          </a:prstGeom>
          <a:solidFill>
            <a:srgbClr val="EEF2F0"/>
          </a:solidFill>
          <a:ln/>
        </p:spPr>
      </p:sp>
      <p:sp>
        <p:nvSpPr>
          <p:cNvPr id="16" name="Shape 13"/>
          <p:cNvSpPr/>
          <p:nvPr/>
        </p:nvSpPr>
        <p:spPr>
          <a:xfrm>
            <a:off x="8138160" y="3392424"/>
            <a:ext cx="91440" cy="749808"/>
          </a:xfrm>
          <a:prstGeom prst="rect">
            <a:avLst/>
          </a:prstGeom>
          <a:solidFill>
            <a:srgbClr val="8A9B95"/>
          </a:solidFill>
          <a:ln/>
        </p:spPr>
      </p:sp>
      <p:sp>
        <p:nvSpPr>
          <p:cNvPr id="17" name="Text 14"/>
          <p:cNvSpPr/>
          <p:nvPr/>
        </p:nvSpPr>
        <p:spPr>
          <a:xfrm>
            <a:off x="8366760" y="3465576"/>
            <a:ext cx="1371600" cy="603504"/>
          </a:xfrm>
          <a:prstGeom prst="rect">
            <a:avLst/>
          </a:prstGeom>
          <a:noFill/>
          <a:ln/>
        </p:spPr>
        <p:txBody>
          <a:bodyPr wrap="square" rtlCol="0" anchor="ctr"/>
          <a:lstStyle/>
          <a:p>
            <a:pPr marL="0" indent="0">
              <a:buNone/>
            </a:pPr>
            <a:r>
              <a:rPr lang="en-US" sz="2600" b="1" dirty="0">
                <a:solidFill>
                  <a:srgbClr val="1A211F"/>
                </a:solidFill>
                <a:latin typeface="Cambria" pitchFamily="34" charset="0"/>
                <a:ea typeface="Cambria" pitchFamily="34" charset="-122"/>
                <a:cs typeface="Cambria" pitchFamily="34" charset="-120"/>
              </a:rPr>
              <a:t>65.0%</a:t>
            </a:r>
            <a:endParaRPr lang="en-US" sz="2600" dirty="0"/>
          </a:p>
        </p:txBody>
      </p:sp>
      <p:sp>
        <p:nvSpPr>
          <p:cNvPr id="18" name="Text 15"/>
          <p:cNvSpPr/>
          <p:nvPr/>
        </p:nvSpPr>
        <p:spPr>
          <a:xfrm>
            <a:off x="9692640" y="3465576"/>
            <a:ext cx="1828800" cy="603504"/>
          </a:xfrm>
          <a:prstGeom prst="rect">
            <a:avLst/>
          </a:prstGeom>
          <a:noFill/>
          <a:ln/>
        </p:spPr>
        <p:txBody>
          <a:bodyPr wrap="square" rtlCol="0" anchor="ctr"/>
          <a:lstStyle/>
          <a:p>
            <a:pPr marL="0" indent="0">
              <a:buNone/>
            </a:pPr>
            <a:r>
              <a:rPr lang="en-US" sz="1300" dirty="0">
                <a:solidFill>
                  <a:srgbClr val="5B6B66"/>
                </a:solidFill>
                <a:latin typeface="Calibri" pitchFamily="34" charset="0"/>
                <a:ea typeface="Calibri" pitchFamily="34" charset="-122"/>
                <a:cs typeface="Calibri" pitchFamily="34" charset="-120"/>
              </a:rPr>
              <a:t>Pervious</a:t>
            </a:r>
            <a:endParaRPr lang="en-US" sz="1300" dirty="0"/>
          </a:p>
        </p:txBody>
      </p:sp>
      <p:sp>
        <p:nvSpPr>
          <p:cNvPr id="19" name="Shape 16"/>
          <p:cNvSpPr/>
          <p:nvPr/>
        </p:nvSpPr>
        <p:spPr>
          <a:xfrm>
            <a:off x="548640" y="5074920"/>
            <a:ext cx="11091672" cy="960120"/>
          </a:xfrm>
          <a:prstGeom prst="rect">
            <a:avLst/>
          </a:prstGeom>
          <a:solidFill>
            <a:srgbClr val="1E4D3D"/>
          </a:solidFill>
          <a:ln/>
        </p:spPr>
      </p:sp>
      <p:sp>
        <p:nvSpPr>
          <p:cNvPr id="20" name="Text 17"/>
          <p:cNvSpPr/>
          <p:nvPr/>
        </p:nvSpPr>
        <p:spPr>
          <a:xfrm>
            <a:off x="868680" y="5230368"/>
            <a:ext cx="2743200" cy="256032"/>
          </a:xfrm>
          <a:prstGeom prst="rect">
            <a:avLst/>
          </a:prstGeom>
          <a:noFill/>
          <a:ln/>
        </p:spPr>
        <p:txBody>
          <a:bodyPr wrap="square" rtlCol="0" anchor="ctr"/>
          <a:lstStyle/>
          <a:p>
            <a:pPr marL="0" indent="0">
              <a:buNone/>
            </a:pPr>
            <a:r>
              <a:rPr lang="en-US" sz="1050" b="1" kern="0" spc="150" dirty="0">
                <a:solidFill>
                  <a:srgbClr val="8FC1A8"/>
                </a:solidFill>
                <a:latin typeface="Calibri" pitchFamily="34" charset="0"/>
                <a:ea typeface="Calibri" pitchFamily="34" charset="-122"/>
                <a:cs typeface="Calibri" pitchFamily="34" charset="-120"/>
              </a:rPr>
              <a:t>PIPELINE RUN</a:t>
            </a:r>
            <a:endParaRPr lang="en-US" sz="1050" dirty="0"/>
          </a:p>
        </p:txBody>
      </p:sp>
      <p:sp>
        <p:nvSpPr>
          <p:cNvPr id="21" name="Text 18"/>
          <p:cNvSpPr/>
          <p:nvPr/>
        </p:nvSpPr>
        <p:spPr>
          <a:xfrm>
            <a:off x="868680" y="5486400"/>
            <a:ext cx="10424160" cy="457200"/>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Earth Engine ingestion  →  cloud filtering  →  NDVI classification  →  OSM overlay — all executed on real data, not mock inputs.</a:t>
            </a:r>
            <a:endParaRPr lang="en-US" sz="1350" dirty="0"/>
          </a:p>
        </p:txBody>
      </p:sp>
      <p:sp>
        <p:nvSpPr>
          <p:cNvPr id="22" name="Text 19"/>
          <p:cNvSpPr/>
          <p:nvPr/>
        </p:nvSpPr>
        <p:spPr>
          <a:xfrm>
            <a:off x="11551615" y="6446520"/>
            <a:ext cx="457200" cy="274320"/>
          </a:xfrm>
          <a:prstGeom prst="rect">
            <a:avLst/>
          </a:prstGeom>
          <a:noFill/>
          <a:ln/>
        </p:spPr>
        <p:txBody>
          <a:bodyPr wrap="square" rtlCol="0" anchor="ctr"/>
          <a:lstStyle/>
          <a:p>
            <a:pPr marL="0" indent="0" algn="r">
              <a:buNone/>
            </a:pPr>
            <a:r>
              <a:rPr lang="en-US" sz="900" dirty="0">
                <a:solidFill>
                  <a:srgbClr val="5B6B66"/>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rtlCol="0" anchor="ctr"/>
          <a:lstStyle/>
          <a:p>
            <a:pPr marL="0" indent="0">
              <a:buNone/>
            </a:pPr>
            <a:r>
              <a:rPr lang="en-US" sz="1150" b="1" kern="0" spc="200" dirty="0">
                <a:solidFill>
                  <a:srgbClr val="E8622C"/>
                </a:solidFill>
                <a:latin typeface="Calibri" pitchFamily="34" charset="0"/>
                <a:ea typeface="Calibri" pitchFamily="34" charset="-122"/>
                <a:cs typeface="Calibri" pitchFamily="34" charset="-120"/>
              </a:rPr>
              <a:t>TURNING PIXELS INTO SCORABLE BLOCKS</a:t>
            </a:r>
            <a:endParaRPr lang="en-US" sz="1150" dirty="0"/>
          </a:p>
        </p:txBody>
      </p:sp>
      <p:sp>
        <p:nvSpPr>
          <p:cNvPr id="3" name="Text 1"/>
          <p:cNvSpPr/>
          <p:nvPr/>
        </p:nvSpPr>
        <p:spPr>
          <a:xfrm>
            <a:off x="548640" y="749808"/>
            <a:ext cx="10789920" cy="594360"/>
          </a:xfrm>
          <a:prstGeom prst="rect">
            <a:avLst/>
          </a:prstGeom>
          <a:noFill/>
          <a:ln/>
        </p:spPr>
        <p:txBody>
          <a:bodyPr wrap="square" rtlCol="0" anchor="ctr"/>
          <a:lstStyle/>
          <a:p>
            <a:pPr marL="0" indent="0">
              <a:buNone/>
            </a:pPr>
            <a:r>
              <a:rPr lang="en-US" sz="3000" b="1" dirty="0">
                <a:solidFill>
                  <a:srgbClr val="1A211F"/>
                </a:solidFill>
                <a:latin typeface="Cambria" pitchFamily="34" charset="0"/>
                <a:ea typeface="Cambria" pitchFamily="34" charset="-122"/>
                <a:cs typeface="Cambria" pitchFamily="34" charset="-120"/>
              </a:rPr>
              <a:t>Spatial Grid Generation &amp; Data Fusion</a:t>
            </a:r>
            <a:endParaRPr lang="en-US" sz="3000" dirty="0"/>
          </a:p>
        </p:txBody>
      </p:sp>
      <p:sp>
        <p:nvSpPr>
          <p:cNvPr id="4" name="Shape 2"/>
          <p:cNvSpPr/>
          <p:nvPr/>
        </p:nvSpPr>
        <p:spPr>
          <a:xfrm>
            <a:off x="548640" y="1691640"/>
            <a:ext cx="539496" cy="539496"/>
          </a:xfrm>
          <a:prstGeom prst="rect">
            <a:avLst/>
          </a:prstGeom>
          <a:solidFill>
            <a:srgbClr val="4E9C77"/>
          </a:solidFill>
          <a:ln w="12700">
            <a:solidFill>
              <a:srgbClr val="FFFFFF"/>
            </a:solidFill>
            <a:prstDash val="solid"/>
          </a:ln>
        </p:spPr>
      </p:sp>
      <p:sp>
        <p:nvSpPr>
          <p:cNvPr id="5" name="Shape 3"/>
          <p:cNvSpPr/>
          <p:nvPr/>
        </p:nvSpPr>
        <p:spPr>
          <a:xfrm>
            <a:off x="1120140" y="1691640"/>
            <a:ext cx="539496" cy="539496"/>
          </a:xfrm>
          <a:prstGeom prst="rect">
            <a:avLst/>
          </a:prstGeom>
          <a:solidFill>
            <a:srgbClr val="EEF2F0"/>
          </a:solidFill>
          <a:ln w="12700">
            <a:solidFill>
              <a:srgbClr val="FFFFFF"/>
            </a:solidFill>
            <a:prstDash val="solid"/>
          </a:ln>
        </p:spPr>
      </p:sp>
      <p:sp>
        <p:nvSpPr>
          <p:cNvPr id="6" name="Shape 4"/>
          <p:cNvSpPr/>
          <p:nvPr/>
        </p:nvSpPr>
        <p:spPr>
          <a:xfrm>
            <a:off x="1691640" y="1691640"/>
            <a:ext cx="539496" cy="539496"/>
          </a:xfrm>
          <a:prstGeom prst="rect">
            <a:avLst/>
          </a:prstGeom>
          <a:solidFill>
            <a:srgbClr val="EEF2F0"/>
          </a:solidFill>
          <a:ln w="12700">
            <a:solidFill>
              <a:srgbClr val="FFFFFF"/>
            </a:solidFill>
            <a:prstDash val="solid"/>
          </a:ln>
        </p:spPr>
      </p:sp>
      <p:sp>
        <p:nvSpPr>
          <p:cNvPr id="7" name="Shape 5"/>
          <p:cNvSpPr/>
          <p:nvPr/>
        </p:nvSpPr>
        <p:spPr>
          <a:xfrm>
            <a:off x="2263140" y="1691640"/>
            <a:ext cx="539496" cy="539496"/>
          </a:xfrm>
          <a:prstGeom prst="rect">
            <a:avLst/>
          </a:prstGeom>
          <a:solidFill>
            <a:srgbClr val="4E9C77"/>
          </a:solidFill>
          <a:ln w="12700">
            <a:solidFill>
              <a:srgbClr val="FFFFFF"/>
            </a:solidFill>
            <a:prstDash val="solid"/>
          </a:ln>
        </p:spPr>
      </p:sp>
      <p:sp>
        <p:nvSpPr>
          <p:cNvPr id="8" name="Shape 6"/>
          <p:cNvSpPr/>
          <p:nvPr/>
        </p:nvSpPr>
        <p:spPr>
          <a:xfrm>
            <a:off x="2834640" y="1691640"/>
            <a:ext cx="539496" cy="539496"/>
          </a:xfrm>
          <a:prstGeom prst="rect">
            <a:avLst/>
          </a:prstGeom>
          <a:solidFill>
            <a:srgbClr val="EEF2F0"/>
          </a:solidFill>
          <a:ln w="12700">
            <a:solidFill>
              <a:srgbClr val="FFFFFF"/>
            </a:solidFill>
            <a:prstDash val="solid"/>
          </a:ln>
        </p:spPr>
      </p:sp>
      <p:sp>
        <p:nvSpPr>
          <p:cNvPr id="9" name="Shape 7"/>
          <p:cNvSpPr/>
          <p:nvPr/>
        </p:nvSpPr>
        <p:spPr>
          <a:xfrm>
            <a:off x="3406140" y="1691640"/>
            <a:ext cx="539496" cy="539496"/>
          </a:xfrm>
          <a:prstGeom prst="rect">
            <a:avLst/>
          </a:prstGeom>
          <a:solidFill>
            <a:srgbClr val="4E9C77"/>
          </a:solidFill>
          <a:ln w="12700">
            <a:solidFill>
              <a:srgbClr val="FFFFFF"/>
            </a:solidFill>
            <a:prstDash val="solid"/>
          </a:ln>
        </p:spPr>
      </p:sp>
      <p:sp>
        <p:nvSpPr>
          <p:cNvPr id="10" name="Shape 8"/>
          <p:cNvSpPr/>
          <p:nvPr/>
        </p:nvSpPr>
        <p:spPr>
          <a:xfrm>
            <a:off x="3977640" y="1691640"/>
            <a:ext cx="539496" cy="539496"/>
          </a:xfrm>
          <a:prstGeom prst="rect">
            <a:avLst/>
          </a:prstGeom>
          <a:solidFill>
            <a:srgbClr val="EEF2F0"/>
          </a:solidFill>
          <a:ln w="12700">
            <a:solidFill>
              <a:srgbClr val="FFFFFF"/>
            </a:solidFill>
            <a:prstDash val="solid"/>
          </a:ln>
        </p:spPr>
      </p:sp>
      <p:sp>
        <p:nvSpPr>
          <p:cNvPr id="11" name="Shape 9"/>
          <p:cNvSpPr/>
          <p:nvPr/>
        </p:nvSpPr>
        <p:spPr>
          <a:xfrm>
            <a:off x="4549140" y="1691640"/>
            <a:ext cx="539496" cy="539496"/>
          </a:xfrm>
          <a:prstGeom prst="rect">
            <a:avLst/>
          </a:prstGeom>
          <a:solidFill>
            <a:srgbClr val="4E9C77"/>
          </a:solidFill>
          <a:ln w="12700">
            <a:solidFill>
              <a:srgbClr val="FFFFFF"/>
            </a:solidFill>
            <a:prstDash val="solid"/>
          </a:ln>
        </p:spPr>
      </p:sp>
      <p:sp>
        <p:nvSpPr>
          <p:cNvPr id="12" name="Shape 10"/>
          <p:cNvSpPr/>
          <p:nvPr/>
        </p:nvSpPr>
        <p:spPr>
          <a:xfrm>
            <a:off x="548640" y="2263140"/>
            <a:ext cx="539496" cy="539496"/>
          </a:xfrm>
          <a:prstGeom prst="rect">
            <a:avLst/>
          </a:prstGeom>
          <a:solidFill>
            <a:srgbClr val="EEF2F0"/>
          </a:solidFill>
          <a:ln w="12700">
            <a:solidFill>
              <a:srgbClr val="FFFFFF"/>
            </a:solidFill>
            <a:prstDash val="solid"/>
          </a:ln>
        </p:spPr>
      </p:sp>
      <p:sp>
        <p:nvSpPr>
          <p:cNvPr id="13" name="Shape 11"/>
          <p:cNvSpPr/>
          <p:nvPr/>
        </p:nvSpPr>
        <p:spPr>
          <a:xfrm>
            <a:off x="1120140" y="2263140"/>
            <a:ext cx="539496" cy="539496"/>
          </a:xfrm>
          <a:prstGeom prst="rect">
            <a:avLst/>
          </a:prstGeom>
          <a:solidFill>
            <a:srgbClr val="EEF2F0"/>
          </a:solidFill>
          <a:ln w="12700">
            <a:solidFill>
              <a:srgbClr val="FFFFFF"/>
            </a:solidFill>
            <a:prstDash val="solid"/>
          </a:ln>
        </p:spPr>
      </p:sp>
      <p:sp>
        <p:nvSpPr>
          <p:cNvPr id="14" name="Shape 12"/>
          <p:cNvSpPr/>
          <p:nvPr/>
        </p:nvSpPr>
        <p:spPr>
          <a:xfrm>
            <a:off x="1691640" y="2263140"/>
            <a:ext cx="539496" cy="539496"/>
          </a:xfrm>
          <a:prstGeom prst="rect">
            <a:avLst/>
          </a:prstGeom>
          <a:solidFill>
            <a:srgbClr val="EEF2F0"/>
          </a:solidFill>
          <a:ln w="12700">
            <a:solidFill>
              <a:srgbClr val="FFFFFF"/>
            </a:solidFill>
            <a:prstDash val="solid"/>
          </a:ln>
        </p:spPr>
      </p:sp>
      <p:sp>
        <p:nvSpPr>
          <p:cNvPr id="15" name="Shape 13"/>
          <p:cNvSpPr/>
          <p:nvPr/>
        </p:nvSpPr>
        <p:spPr>
          <a:xfrm>
            <a:off x="2263140" y="2263140"/>
            <a:ext cx="539496" cy="539496"/>
          </a:xfrm>
          <a:prstGeom prst="rect">
            <a:avLst/>
          </a:prstGeom>
          <a:solidFill>
            <a:srgbClr val="4E9C77"/>
          </a:solidFill>
          <a:ln w="12700">
            <a:solidFill>
              <a:srgbClr val="FFFFFF"/>
            </a:solidFill>
            <a:prstDash val="solid"/>
          </a:ln>
        </p:spPr>
      </p:sp>
      <p:sp>
        <p:nvSpPr>
          <p:cNvPr id="16" name="Shape 14"/>
          <p:cNvSpPr/>
          <p:nvPr/>
        </p:nvSpPr>
        <p:spPr>
          <a:xfrm>
            <a:off x="2834640" y="2263140"/>
            <a:ext cx="539496" cy="539496"/>
          </a:xfrm>
          <a:prstGeom prst="rect">
            <a:avLst/>
          </a:prstGeom>
          <a:solidFill>
            <a:srgbClr val="4E9C77"/>
          </a:solidFill>
          <a:ln w="12700">
            <a:solidFill>
              <a:srgbClr val="FFFFFF"/>
            </a:solidFill>
            <a:prstDash val="solid"/>
          </a:ln>
        </p:spPr>
      </p:sp>
      <p:sp>
        <p:nvSpPr>
          <p:cNvPr id="17" name="Shape 15"/>
          <p:cNvSpPr/>
          <p:nvPr/>
        </p:nvSpPr>
        <p:spPr>
          <a:xfrm>
            <a:off x="3406140" y="2263140"/>
            <a:ext cx="539496" cy="539496"/>
          </a:xfrm>
          <a:prstGeom prst="rect">
            <a:avLst/>
          </a:prstGeom>
          <a:solidFill>
            <a:srgbClr val="EEF2F0"/>
          </a:solidFill>
          <a:ln w="12700">
            <a:solidFill>
              <a:srgbClr val="FFFFFF"/>
            </a:solidFill>
            <a:prstDash val="solid"/>
          </a:ln>
        </p:spPr>
      </p:sp>
      <p:sp>
        <p:nvSpPr>
          <p:cNvPr id="18" name="Shape 16"/>
          <p:cNvSpPr/>
          <p:nvPr/>
        </p:nvSpPr>
        <p:spPr>
          <a:xfrm>
            <a:off x="3977640" y="2263140"/>
            <a:ext cx="539496" cy="539496"/>
          </a:xfrm>
          <a:prstGeom prst="rect">
            <a:avLst/>
          </a:prstGeom>
          <a:solidFill>
            <a:srgbClr val="4E9C77"/>
          </a:solidFill>
          <a:ln w="12700">
            <a:solidFill>
              <a:srgbClr val="FFFFFF"/>
            </a:solidFill>
            <a:prstDash val="solid"/>
          </a:ln>
        </p:spPr>
      </p:sp>
      <p:sp>
        <p:nvSpPr>
          <p:cNvPr id="19" name="Shape 17"/>
          <p:cNvSpPr/>
          <p:nvPr/>
        </p:nvSpPr>
        <p:spPr>
          <a:xfrm>
            <a:off x="4549140" y="2263140"/>
            <a:ext cx="539496" cy="539496"/>
          </a:xfrm>
          <a:prstGeom prst="rect">
            <a:avLst/>
          </a:prstGeom>
          <a:solidFill>
            <a:srgbClr val="EEF2F0"/>
          </a:solidFill>
          <a:ln w="12700">
            <a:solidFill>
              <a:srgbClr val="FFFFFF"/>
            </a:solidFill>
            <a:prstDash val="solid"/>
          </a:ln>
        </p:spPr>
      </p:sp>
      <p:sp>
        <p:nvSpPr>
          <p:cNvPr id="20" name="Shape 18"/>
          <p:cNvSpPr/>
          <p:nvPr/>
        </p:nvSpPr>
        <p:spPr>
          <a:xfrm>
            <a:off x="548640" y="2834640"/>
            <a:ext cx="539496" cy="539496"/>
          </a:xfrm>
          <a:prstGeom prst="rect">
            <a:avLst/>
          </a:prstGeom>
          <a:solidFill>
            <a:srgbClr val="EEF2F0"/>
          </a:solidFill>
          <a:ln w="12700">
            <a:solidFill>
              <a:srgbClr val="FFFFFF"/>
            </a:solidFill>
            <a:prstDash val="solid"/>
          </a:ln>
        </p:spPr>
      </p:sp>
      <p:sp>
        <p:nvSpPr>
          <p:cNvPr id="21" name="Shape 19"/>
          <p:cNvSpPr/>
          <p:nvPr/>
        </p:nvSpPr>
        <p:spPr>
          <a:xfrm>
            <a:off x="1120140" y="2834640"/>
            <a:ext cx="539496" cy="539496"/>
          </a:xfrm>
          <a:prstGeom prst="rect">
            <a:avLst/>
          </a:prstGeom>
          <a:solidFill>
            <a:srgbClr val="EEF2F0"/>
          </a:solidFill>
          <a:ln w="12700">
            <a:solidFill>
              <a:srgbClr val="FFFFFF"/>
            </a:solidFill>
            <a:prstDash val="solid"/>
          </a:ln>
        </p:spPr>
      </p:sp>
      <p:sp>
        <p:nvSpPr>
          <p:cNvPr id="22" name="Shape 20"/>
          <p:cNvSpPr/>
          <p:nvPr/>
        </p:nvSpPr>
        <p:spPr>
          <a:xfrm>
            <a:off x="1691640" y="2834640"/>
            <a:ext cx="539496" cy="539496"/>
          </a:xfrm>
          <a:prstGeom prst="rect">
            <a:avLst/>
          </a:prstGeom>
          <a:solidFill>
            <a:srgbClr val="4E9C77"/>
          </a:solidFill>
          <a:ln w="12700">
            <a:solidFill>
              <a:srgbClr val="FFFFFF"/>
            </a:solidFill>
            <a:prstDash val="solid"/>
          </a:ln>
        </p:spPr>
      </p:sp>
      <p:sp>
        <p:nvSpPr>
          <p:cNvPr id="23" name="Shape 21"/>
          <p:cNvSpPr/>
          <p:nvPr/>
        </p:nvSpPr>
        <p:spPr>
          <a:xfrm>
            <a:off x="2263140" y="2834640"/>
            <a:ext cx="539496" cy="539496"/>
          </a:xfrm>
          <a:prstGeom prst="rect">
            <a:avLst/>
          </a:prstGeom>
          <a:solidFill>
            <a:srgbClr val="4E9C77"/>
          </a:solidFill>
          <a:ln w="12700">
            <a:solidFill>
              <a:srgbClr val="FFFFFF"/>
            </a:solidFill>
            <a:prstDash val="solid"/>
          </a:ln>
        </p:spPr>
      </p:sp>
      <p:sp>
        <p:nvSpPr>
          <p:cNvPr id="24" name="Shape 22"/>
          <p:cNvSpPr/>
          <p:nvPr/>
        </p:nvSpPr>
        <p:spPr>
          <a:xfrm>
            <a:off x="2834640" y="2834640"/>
            <a:ext cx="539496" cy="539496"/>
          </a:xfrm>
          <a:prstGeom prst="rect">
            <a:avLst/>
          </a:prstGeom>
          <a:solidFill>
            <a:srgbClr val="EEF2F0"/>
          </a:solidFill>
          <a:ln w="12700">
            <a:solidFill>
              <a:srgbClr val="FFFFFF"/>
            </a:solidFill>
            <a:prstDash val="solid"/>
          </a:ln>
        </p:spPr>
      </p:sp>
      <p:sp>
        <p:nvSpPr>
          <p:cNvPr id="25" name="Shape 23"/>
          <p:cNvSpPr/>
          <p:nvPr/>
        </p:nvSpPr>
        <p:spPr>
          <a:xfrm>
            <a:off x="3406140" y="2834640"/>
            <a:ext cx="539496" cy="539496"/>
          </a:xfrm>
          <a:prstGeom prst="rect">
            <a:avLst/>
          </a:prstGeom>
          <a:solidFill>
            <a:srgbClr val="4E9C77"/>
          </a:solidFill>
          <a:ln w="12700">
            <a:solidFill>
              <a:srgbClr val="FFFFFF"/>
            </a:solidFill>
            <a:prstDash val="solid"/>
          </a:ln>
        </p:spPr>
      </p:sp>
      <p:sp>
        <p:nvSpPr>
          <p:cNvPr id="26" name="Shape 24"/>
          <p:cNvSpPr/>
          <p:nvPr/>
        </p:nvSpPr>
        <p:spPr>
          <a:xfrm>
            <a:off x="3977640" y="2834640"/>
            <a:ext cx="539496" cy="539496"/>
          </a:xfrm>
          <a:prstGeom prst="rect">
            <a:avLst/>
          </a:prstGeom>
          <a:solidFill>
            <a:srgbClr val="EEF2F0"/>
          </a:solidFill>
          <a:ln w="12700">
            <a:solidFill>
              <a:srgbClr val="FFFFFF"/>
            </a:solidFill>
            <a:prstDash val="solid"/>
          </a:ln>
        </p:spPr>
      </p:sp>
      <p:sp>
        <p:nvSpPr>
          <p:cNvPr id="27" name="Shape 25"/>
          <p:cNvSpPr/>
          <p:nvPr/>
        </p:nvSpPr>
        <p:spPr>
          <a:xfrm>
            <a:off x="4549140" y="2834640"/>
            <a:ext cx="539496" cy="539496"/>
          </a:xfrm>
          <a:prstGeom prst="rect">
            <a:avLst/>
          </a:prstGeom>
          <a:solidFill>
            <a:srgbClr val="EEF2F0"/>
          </a:solidFill>
          <a:ln w="12700">
            <a:solidFill>
              <a:srgbClr val="FFFFFF"/>
            </a:solidFill>
            <a:prstDash val="solid"/>
          </a:ln>
        </p:spPr>
      </p:sp>
      <p:sp>
        <p:nvSpPr>
          <p:cNvPr id="28" name="Shape 26"/>
          <p:cNvSpPr/>
          <p:nvPr/>
        </p:nvSpPr>
        <p:spPr>
          <a:xfrm>
            <a:off x="548640" y="3406140"/>
            <a:ext cx="539496" cy="539496"/>
          </a:xfrm>
          <a:prstGeom prst="rect">
            <a:avLst/>
          </a:prstGeom>
          <a:solidFill>
            <a:srgbClr val="EEF2F0"/>
          </a:solidFill>
          <a:ln w="12700">
            <a:solidFill>
              <a:srgbClr val="FFFFFF"/>
            </a:solidFill>
            <a:prstDash val="solid"/>
          </a:ln>
        </p:spPr>
      </p:sp>
      <p:sp>
        <p:nvSpPr>
          <p:cNvPr id="29" name="Shape 27"/>
          <p:cNvSpPr/>
          <p:nvPr/>
        </p:nvSpPr>
        <p:spPr>
          <a:xfrm>
            <a:off x="1120140" y="3406140"/>
            <a:ext cx="539496" cy="539496"/>
          </a:xfrm>
          <a:prstGeom prst="rect">
            <a:avLst/>
          </a:prstGeom>
          <a:solidFill>
            <a:srgbClr val="4E9C77"/>
          </a:solidFill>
          <a:ln w="12700">
            <a:solidFill>
              <a:srgbClr val="FFFFFF"/>
            </a:solidFill>
            <a:prstDash val="solid"/>
          </a:ln>
        </p:spPr>
      </p:sp>
      <p:sp>
        <p:nvSpPr>
          <p:cNvPr id="30" name="Shape 28"/>
          <p:cNvSpPr/>
          <p:nvPr/>
        </p:nvSpPr>
        <p:spPr>
          <a:xfrm>
            <a:off x="1691640" y="3406140"/>
            <a:ext cx="539496" cy="539496"/>
          </a:xfrm>
          <a:prstGeom prst="rect">
            <a:avLst/>
          </a:prstGeom>
          <a:solidFill>
            <a:srgbClr val="4E9C77"/>
          </a:solidFill>
          <a:ln w="12700">
            <a:solidFill>
              <a:srgbClr val="FFFFFF"/>
            </a:solidFill>
            <a:prstDash val="solid"/>
          </a:ln>
        </p:spPr>
      </p:sp>
      <p:sp>
        <p:nvSpPr>
          <p:cNvPr id="31" name="Shape 29"/>
          <p:cNvSpPr/>
          <p:nvPr/>
        </p:nvSpPr>
        <p:spPr>
          <a:xfrm>
            <a:off x="2263140" y="3406140"/>
            <a:ext cx="539496" cy="539496"/>
          </a:xfrm>
          <a:prstGeom prst="rect">
            <a:avLst/>
          </a:prstGeom>
          <a:solidFill>
            <a:srgbClr val="EEF2F0"/>
          </a:solidFill>
          <a:ln w="12700">
            <a:solidFill>
              <a:srgbClr val="FFFFFF"/>
            </a:solidFill>
            <a:prstDash val="solid"/>
          </a:ln>
        </p:spPr>
      </p:sp>
      <p:sp>
        <p:nvSpPr>
          <p:cNvPr id="32" name="Shape 30"/>
          <p:cNvSpPr/>
          <p:nvPr/>
        </p:nvSpPr>
        <p:spPr>
          <a:xfrm>
            <a:off x="2834640" y="3406140"/>
            <a:ext cx="539496" cy="539496"/>
          </a:xfrm>
          <a:prstGeom prst="rect">
            <a:avLst/>
          </a:prstGeom>
          <a:solidFill>
            <a:srgbClr val="4E9C77"/>
          </a:solidFill>
          <a:ln w="12700">
            <a:solidFill>
              <a:srgbClr val="FFFFFF"/>
            </a:solidFill>
            <a:prstDash val="solid"/>
          </a:ln>
        </p:spPr>
      </p:sp>
      <p:sp>
        <p:nvSpPr>
          <p:cNvPr id="33" name="Shape 31"/>
          <p:cNvSpPr/>
          <p:nvPr/>
        </p:nvSpPr>
        <p:spPr>
          <a:xfrm>
            <a:off x="3406140" y="3406140"/>
            <a:ext cx="539496" cy="539496"/>
          </a:xfrm>
          <a:prstGeom prst="rect">
            <a:avLst/>
          </a:prstGeom>
          <a:solidFill>
            <a:srgbClr val="EEF2F0"/>
          </a:solidFill>
          <a:ln w="12700">
            <a:solidFill>
              <a:srgbClr val="FFFFFF"/>
            </a:solidFill>
            <a:prstDash val="solid"/>
          </a:ln>
        </p:spPr>
      </p:sp>
      <p:sp>
        <p:nvSpPr>
          <p:cNvPr id="34" name="Shape 32"/>
          <p:cNvSpPr/>
          <p:nvPr/>
        </p:nvSpPr>
        <p:spPr>
          <a:xfrm>
            <a:off x="3977640" y="3406140"/>
            <a:ext cx="539496" cy="539496"/>
          </a:xfrm>
          <a:prstGeom prst="rect">
            <a:avLst/>
          </a:prstGeom>
          <a:solidFill>
            <a:srgbClr val="4E9C77"/>
          </a:solidFill>
          <a:ln w="12700">
            <a:solidFill>
              <a:srgbClr val="FFFFFF"/>
            </a:solidFill>
            <a:prstDash val="solid"/>
          </a:ln>
        </p:spPr>
      </p:sp>
      <p:sp>
        <p:nvSpPr>
          <p:cNvPr id="35" name="Shape 33"/>
          <p:cNvSpPr/>
          <p:nvPr/>
        </p:nvSpPr>
        <p:spPr>
          <a:xfrm>
            <a:off x="4549140" y="3406140"/>
            <a:ext cx="539496" cy="539496"/>
          </a:xfrm>
          <a:prstGeom prst="rect">
            <a:avLst/>
          </a:prstGeom>
          <a:solidFill>
            <a:srgbClr val="4E9C77"/>
          </a:solidFill>
          <a:ln w="12700">
            <a:solidFill>
              <a:srgbClr val="FFFFFF"/>
            </a:solidFill>
            <a:prstDash val="solid"/>
          </a:ln>
        </p:spPr>
      </p:sp>
      <p:sp>
        <p:nvSpPr>
          <p:cNvPr id="36" name="Shape 34"/>
          <p:cNvSpPr/>
          <p:nvPr/>
        </p:nvSpPr>
        <p:spPr>
          <a:xfrm>
            <a:off x="548640" y="3977640"/>
            <a:ext cx="539496" cy="539496"/>
          </a:xfrm>
          <a:prstGeom prst="rect">
            <a:avLst/>
          </a:prstGeom>
          <a:solidFill>
            <a:srgbClr val="EEF2F0"/>
          </a:solidFill>
          <a:ln w="12700">
            <a:solidFill>
              <a:srgbClr val="FFFFFF"/>
            </a:solidFill>
            <a:prstDash val="solid"/>
          </a:ln>
        </p:spPr>
      </p:sp>
      <p:sp>
        <p:nvSpPr>
          <p:cNvPr id="37" name="Shape 35"/>
          <p:cNvSpPr/>
          <p:nvPr/>
        </p:nvSpPr>
        <p:spPr>
          <a:xfrm>
            <a:off x="1120140" y="3977640"/>
            <a:ext cx="539496" cy="539496"/>
          </a:xfrm>
          <a:prstGeom prst="rect">
            <a:avLst/>
          </a:prstGeom>
          <a:solidFill>
            <a:srgbClr val="4E9C77"/>
          </a:solidFill>
          <a:ln w="12700">
            <a:solidFill>
              <a:srgbClr val="FFFFFF"/>
            </a:solidFill>
            <a:prstDash val="solid"/>
          </a:ln>
        </p:spPr>
      </p:sp>
      <p:sp>
        <p:nvSpPr>
          <p:cNvPr id="38" name="Shape 36"/>
          <p:cNvSpPr/>
          <p:nvPr/>
        </p:nvSpPr>
        <p:spPr>
          <a:xfrm>
            <a:off x="1691640" y="3977640"/>
            <a:ext cx="539496" cy="539496"/>
          </a:xfrm>
          <a:prstGeom prst="rect">
            <a:avLst/>
          </a:prstGeom>
          <a:solidFill>
            <a:srgbClr val="EEF2F0"/>
          </a:solidFill>
          <a:ln w="12700">
            <a:solidFill>
              <a:srgbClr val="FFFFFF"/>
            </a:solidFill>
            <a:prstDash val="solid"/>
          </a:ln>
        </p:spPr>
      </p:sp>
      <p:sp>
        <p:nvSpPr>
          <p:cNvPr id="39" name="Shape 37"/>
          <p:cNvSpPr/>
          <p:nvPr/>
        </p:nvSpPr>
        <p:spPr>
          <a:xfrm>
            <a:off x="2263140" y="3977640"/>
            <a:ext cx="539496" cy="539496"/>
          </a:xfrm>
          <a:prstGeom prst="rect">
            <a:avLst/>
          </a:prstGeom>
          <a:solidFill>
            <a:srgbClr val="4E9C77"/>
          </a:solidFill>
          <a:ln w="12700">
            <a:solidFill>
              <a:srgbClr val="FFFFFF"/>
            </a:solidFill>
            <a:prstDash val="solid"/>
          </a:ln>
        </p:spPr>
      </p:sp>
      <p:sp>
        <p:nvSpPr>
          <p:cNvPr id="40" name="Shape 38"/>
          <p:cNvSpPr/>
          <p:nvPr/>
        </p:nvSpPr>
        <p:spPr>
          <a:xfrm>
            <a:off x="2834640" y="3977640"/>
            <a:ext cx="539496" cy="539496"/>
          </a:xfrm>
          <a:prstGeom prst="rect">
            <a:avLst/>
          </a:prstGeom>
          <a:solidFill>
            <a:srgbClr val="EEF2F0"/>
          </a:solidFill>
          <a:ln w="12700">
            <a:solidFill>
              <a:srgbClr val="FFFFFF"/>
            </a:solidFill>
            <a:prstDash val="solid"/>
          </a:ln>
        </p:spPr>
      </p:sp>
      <p:sp>
        <p:nvSpPr>
          <p:cNvPr id="41" name="Shape 39"/>
          <p:cNvSpPr/>
          <p:nvPr/>
        </p:nvSpPr>
        <p:spPr>
          <a:xfrm>
            <a:off x="3406140" y="3977640"/>
            <a:ext cx="539496" cy="539496"/>
          </a:xfrm>
          <a:prstGeom prst="rect">
            <a:avLst/>
          </a:prstGeom>
          <a:solidFill>
            <a:srgbClr val="EEF2F0"/>
          </a:solidFill>
          <a:ln w="12700">
            <a:solidFill>
              <a:srgbClr val="FFFFFF"/>
            </a:solidFill>
            <a:prstDash val="solid"/>
          </a:ln>
        </p:spPr>
      </p:sp>
      <p:sp>
        <p:nvSpPr>
          <p:cNvPr id="42" name="Shape 40"/>
          <p:cNvSpPr/>
          <p:nvPr/>
        </p:nvSpPr>
        <p:spPr>
          <a:xfrm>
            <a:off x="3977640" y="3977640"/>
            <a:ext cx="539496" cy="539496"/>
          </a:xfrm>
          <a:prstGeom prst="rect">
            <a:avLst/>
          </a:prstGeom>
          <a:solidFill>
            <a:srgbClr val="4E9C77"/>
          </a:solidFill>
          <a:ln w="12700">
            <a:solidFill>
              <a:srgbClr val="FFFFFF"/>
            </a:solidFill>
            <a:prstDash val="solid"/>
          </a:ln>
        </p:spPr>
      </p:sp>
      <p:sp>
        <p:nvSpPr>
          <p:cNvPr id="43" name="Shape 41"/>
          <p:cNvSpPr/>
          <p:nvPr/>
        </p:nvSpPr>
        <p:spPr>
          <a:xfrm>
            <a:off x="4549140" y="3977640"/>
            <a:ext cx="539496" cy="539496"/>
          </a:xfrm>
          <a:prstGeom prst="rect">
            <a:avLst/>
          </a:prstGeom>
          <a:solidFill>
            <a:srgbClr val="EEF2F0"/>
          </a:solidFill>
          <a:ln w="12700">
            <a:solidFill>
              <a:srgbClr val="FFFFFF"/>
            </a:solidFill>
            <a:prstDash val="solid"/>
          </a:ln>
        </p:spPr>
      </p:sp>
      <p:sp>
        <p:nvSpPr>
          <p:cNvPr id="44" name="Shape 42"/>
          <p:cNvSpPr/>
          <p:nvPr/>
        </p:nvSpPr>
        <p:spPr>
          <a:xfrm>
            <a:off x="548640" y="4549140"/>
            <a:ext cx="539496" cy="539496"/>
          </a:xfrm>
          <a:prstGeom prst="rect">
            <a:avLst/>
          </a:prstGeom>
          <a:solidFill>
            <a:srgbClr val="4E9C77"/>
          </a:solidFill>
          <a:ln w="12700">
            <a:solidFill>
              <a:srgbClr val="FFFFFF"/>
            </a:solidFill>
            <a:prstDash val="solid"/>
          </a:ln>
        </p:spPr>
      </p:sp>
      <p:sp>
        <p:nvSpPr>
          <p:cNvPr id="45" name="Shape 43"/>
          <p:cNvSpPr/>
          <p:nvPr/>
        </p:nvSpPr>
        <p:spPr>
          <a:xfrm>
            <a:off x="1120140" y="4549140"/>
            <a:ext cx="539496" cy="539496"/>
          </a:xfrm>
          <a:prstGeom prst="rect">
            <a:avLst/>
          </a:prstGeom>
          <a:solidFill>
            <a:srgbClr val="4E9C77"/>
          </a:solidFill>
          <a:ln w="12700">
            <a:solidFill>
              <a:srgbClr val="FFFFFF"/>
            </a:solidFill>
            <a:prstDash val="solid"/>
          </a:ln>
        </p:spPr>
      </p:sp>
      <p:sp>
        <p:nvSpPr>
          <p:cNvPr id="46" name="Shape 44"/>
          <p:cNvSpPr/>
          <p:nvPr/>
        </p:nvSpPr>
        <p:spPr>
          <a:xfrm>
            <a:off x="1691640" y="4549140"/>
            <a:ext cx="539496" cy="539496"/>
          </a:xfrm>
          <a:prstGeom prst="rect">
            <a:avLst/>
          </a:prstGeom>
          <a:solidFill>
            <a:srgbClr val="E8622C"/>
          </a:solidFill>
          <a:ln w="12700">
            <a:solidFill>
              <a:srgbClr val="FFFFFF"/>
            </a:solidFill>
            <a:prstDash val="solid"/>
          </a:ln>
        </p:spPr>
      </p:sp>
      <p:sp>
        <p:nvSpPr>
          <p:cNvPr id="47" name="Shape 45"/>
          <p:cNvSpPr/>
          <p:nvPr/>
        </p:nvSpPr>
        <p:spPr>
          <a:xfrm>
            <a:off x="2263140" y="4549140"/>
            <a:ext cx="539496" cy="539496"/>
          </a:xfrm>
          <a:prstGeom prst="rect">
            <a:avLst/>
          </a:prstGeom>
          <a:solidFill>
            <a:srgbClr val="EEF2F0"/>
          </a:solidFill>
          <a:ln w="12700">
            <a:solidFill>
              <a:srgbClr val="FFFFFF"/>
            </a:solidFill>
            <a:prstDash val="solid"/>
          </a:ln>
        </p:spPr>
      </p:sp>
      <p:sp>
        <p:nvSpPr>
          <p:cNvPr id="48" name="Shape 46"/>
          <p:cNvSpPr/>
          <p:nvPr/>
        </p:nvSpPr>
        <p:spPr>
          <a:xfrm>
            <a:off x="2834640" y="4549140"/>
            <a:ext cx="539496" cy="539496"/>
          </a:xfrm>
          <a:prstGeom prst="rect">
            <a:avLst/>
          </a:prstGeom>
          <a:solidFill>
            <a:srgbClr val="4E9C77"/>
          </a:solidFill>
          <a:ln w="12700">
            <a:solidFill>
              <a:srgbClr val="FFFFFF"/>
            </a:solidFill>
            <a:prstDash val="solid"/>
          </a:ln>
        </p:spPr>
      </p:sp>
      <p:sp>
        <p:nvSpPr>
          <p:cNvPr id="49" name="Shape 47"/>
          <p:cNvSpPr/>
          <p:nvPr/>
        </p:nvSpPr>
        <p:spPr>
          <a:xfrm>
            <a:off x="3406140" y="4549140"/>
            <a:ext cx="539496" cy="539496"/>
          </a:xfrm>
          <a:prstGeom prst="rect">
            <a:avLst/>
          </a:prstGeom>
          <a:solidFill>
            <a:srgbClr val="4E9C77"/>
          </a:solidFill>
          <a:ln w="12700">
            <a:solidFill>
              <a:srgbClr val="FFFFFF"/>
            </a:solidFill>
            <a:prstDash val="solid"/>
          </a:ln>
        </p:spPr>
      </p:sp>
      <p:sp>
        <p:nvSpPr>
          <p:cNvPr id="50" name="Shape 48"/>
          <p:cNvSpPr/>
          <p:nvPr/>
        </p:nvSpPr>
        <p:spPr>
          <a:xfrm>
            <a:off x="3977640" y="4549140"/>
            <a:ext cx="539496" cy="539496"/>
          </a:xfrm>
          <a:prstGeom prst="rect">
            <a:avLst/>
          </a:prstGeom>
          <a:solidFill>
            <a:srgbClr val="EEF2F0"/>
          </a:solidFill>
          <a:ln w="12700">
            <a:solidFill>
              <a:srgbClr val="FFFFFF"/>
            </a:solidFill>
            <a:prstDash val="solid"/>
          </a:ln>
        </p:spPr>
      </p:sp>
      <p:sp>
        <p:nvSpPr>
          <p:cNvPr id="51" name="Shape 49"/>
          <p:cNvSpPr/>
          <p:nvPr/>
        </p:nvSpPr>
        <p:spPr>
          <a:xfrm>
            <a:off x="4549140" y="4549140"/>
            <a:ext cx="539496" cy="539496"/>
          </a:xfrm>
          <a:prstGeom prst="rect">
            <a:avLst/>
          </a:prstGeom>
          <a:solidFill>
            <a:srgbClr val="4E9C77"/>
          </a:solidFill>
          <a:ln w="12700">
            <a:solidFill>
              <a:srgbClr val="FFFFFF"/>
            </a:solidFill>
            <a:prstDash val="solid"/>
          </a:ln>
        </p:spPr>
      </p:sp>
      <p:sp>
        <p:nvSpPr>
          <p:cNvPr id="52" name="Shape 50"/>
          <p:cNvSpPr/>
          <p:nvPr/>
        </p:nvSpPr>
        <p:spPr>
          <a:xfrm>
            <a:off x="548640" y="5120640"/>
            <a:ext cx="539496" cy="539496"/>
          </a:xfrm>
          <a:prstGeom prst="rect">
            <a:avLst/>
          </a:prstGeom>
          <a:solidFill>
            <a:srgbClr val="EEF2F0"/>
          </a:solidFill>
          <a:ln w="12700">
            <a:solidFill>
              <a:srgbClr val="FFFFFF"/>
            </a:solidFill>
            <a:prstDash val="solid"/>
          </a:ln>
        </p:spPr>
      </p:sp>
      <p:sp>
        <p:nvSpPr>
          <p:cNvPr id="53" name="Shape 51"/>
          <p:cNvSpPr/>
          <p:nvPr/>
        </p:nvSpPr>
        <p:spPr>
          <a:xfrm>
            <a:off x="1120140" y="5120640"/>
            <a:ext cx="539496" cy="539496"/>
          </a:xfrm>
          <a:prstGeom prst="rect">
            <a:avLst/>
          </a:prstGeom>
          <a:solidFill>
            <a:srgbClr val="E8622C"/>
          </a:solidFill>
          <a:ln w="12700">
            <a:solidFill>
              <a:srgbClr val="FFFFFF"/>
            </a:solidFill>
            <a:prstDash val="solid"/>
          </a:ln>
        </p:spPr>
      </p:sp>
      <p:sp>
        <p:nvSpPr>
          <p:cNvPr id="54" name="Shape 52"/>
          <p:cNvSpPr/>
          <p:nvPr/>
        </p:nvSpPr>
        <p:spPr>
          <a:xfrm>
            <a:off x="1691640" y="5120640"/>
            <a:ext cx="539496" cy="539496"/>
          </a:xfrm>
          <a:prstGeom prst="rect">
            <a:avLst/>
          </a:prstGeom>
          <a:solidFill>
            <a:srgbClr val="4E9C77"/>
          </a:solidFill>
          <a:ln w="12700">
            <a:solidFill>
              <a:srgbClr val="FFFFFF"/>
            </a:solidFill>
            <a:prstDash val="solid"/>
          </a:ln>
        </p:spPr>
      </p:sp>
      <p:sp>
        <p:nvSpPr>
          <p:cNvPr id="55" name="Shape 53"/>
          <p:cNvSpPr/>
          <p:nvPr/>
        </p:nvSpPr>
        <p:spPr>
          <a:xfrm>
            <a:off x="2263140" y="5120640"/>
            <a:ext cx="539496" cy="539496"/>
          </a:xfrm>
          <a:prstGeom prst="rect">
            <a:avLst/>
          </a:prstGeom>
          <a:solidFill>
            <a:srgbClr val="EEF2F0"/>
          </a:solidFill>
          <a:ln w="12700">
            <a:solidFill>
              <a:srgbClr val="FFFFFF"/>
            </a:solidFill>
            <a:prstDash val="solid"/>
          </a:ln>
        </p:spPr>
      </p:sp>
      <p:sp>
        <p:nvSpPr>
          <p:cNvPr id="56" name="Shape 54"/>
          <p:cNvSpPr/>
          <p:nvPr/>
        </p:nvSpPr>
        <p:spPr>
          <a:xfrm>
            <a:off x="2834640" y="5120640"/>
            <a:ext cx="539496" cy="539496"/>
          </a:xfrm>
          <a:prstGeom prst="rect">
            <a:avLst/>
          </a:prstGeom>
          <a:solidFill>
            <a:srgbClr val="4E9C77"/>
          </a:solidFill>
          <a:ln w="12700">
            <a:solidFill>
              <a:srgbClr val="FFFFFF"/>
            </a:solidFill>
            <a:prstDash val="solid"/>
          </a:ln>
        </p:spPr>
      </p:sp>
      <p:sp>
        <p:nvSpPr>
          <p:cNvPr id="57" name="Shape 55"/>
          <p:cNvSpPr/>
          <p:nvPr/>
        </p:nvSpPr>
        <p:spPr>
          <a:xfrm>
            <a:off x="3406140" y="5120640"/>
            <a:ext cx="539496" cy="539496"/>
          </a:xfrm>
          <a:prstGeom prst="rect">
            <a:avLst/>
          </a:prstGeom>
          <a:solidFill>
            <a:srgbClr val="EEF2F0"/>
          </a:solidFill>
          <a:ln w="12700">
            <a:solidFill>
              <a:srgbClr val="FFFFFF"/>
            </a:solidFill>
            <a:prstDash val="solid"/>
          </a:ln>
        </p:spPr>
      </p:sp>
      <p:sp>
        <p:nvSpPr>
          <p:cNvPr id="58" name="Shape 56"/>
          <p:cNvSpPr/>
          <p:nvPr/>
        </p:nvSpPr>
        <p:spPr>
          <a:xfrm>
            <a:off x="3977640" y="5120640"/>
            <a:ext cx="539496" cy="539496"/>
          </a:xfrm>
          <a:prstGeom prst="rect">
            <a:avLst/>
          </a:prstGeom>
          <a:solidFill>
            <a:srgbClr val="EEF2F0"/>
          </a:solidFill>
          <a:ln w="12700">
            <a:solidFill>
              <a:srgbClr val="FFFFFF"/>
            </a:solidFill>
            <a:prstDash val="solid"/>
          </a:ln>
        </p:spPr>
      </p:sp>
      <p:sp>
        <p:nvSpPr>
          <p:cNvPr id="59" name="Shape 57"/>
          <p:cNvSpPr/>
          <p:nvPr/>
        </p:nvSpPr>
        <p:spPr>
          <a:xfrm>
            <a:off x="4549140" y="5120640"/>
            <a:ext cx="539496" cy="539496"/>
          </a:xfrm>
          <a:prstGeom prst="rect">
            <a:avLst/>
          </a:prstGeom>
          <a:solidFill>
            <a:srgbClr val="4E9C77"/>
          </a:solidFill>
          <a:ln w="12700">
            <a:solidFill>
              <a:srgbClr val="FFFFFF"/>
            </a:solidFill>
            <a:prstDash val="solid"/>
          </a:ln>
        </p:spPr>
      </p:sp>
      <p:sp>
        <p:nvSpPr>
          <p:cNvPr id="60" name="Shape 58"/>
          <p:cNvSpPr/>
          <p:nvPr/>
        </p:nvSpPr>
        <p:spPr>
          <a:xfrm>
            <a:off x="548640" y="5692140"/>
            <a:ext cx="539496" cy="539496"/>
          </a:xfrm>
          <a:prstGeom prst="rect">
            <a:avLst/>
          </a:prstGeom>
          <a:solidFill>
            <a:srgbClr val="E8622C"/>
          </a:solidFill>
          <a:ln w="12700">
            <a:solidFill>
              <a:srgbClr val="FFFFFF"/>
            </a:solidFill>
            <a:prstDash val="solid"/>
          </a:ln>
        </p:spPr>
      </p:sp>
      <p:sp>
        <p:nvSpPr>
          <p:cNvPr id="61" name="Shape 59"/>
          <p:cNvSpPr/>
          <p:nvPr/>
        </p:nvSpPr>
        <p:spPr>
          <a:xfrm>
            <a:off x="1120140" y="5692140"/>
            <a:ext cx="539496" cy="539496"/>
          </a:xfrm>
          <a:prstGeom prst="rect">
            <a:avLst/>
          </a:prstGeom>
          <a:solidFill>
            <a:srgbClr val="EEF2F0"/>
          </a:solidFill>
          <a:ln w="12700">
            <a:solidFill>
              <a:srgbClr val="FFFFFF"/>
            </a:solidFill>
            <a:prstDash val="solid"/>
          </a:ln>
        </p:spPr>
      </p:sp>
      <p:sp>
        <p:nvSpPr>
          <p:cNvPr id="62" name="Shape 60"/>
          <p:cNvSpPr/>
          <p:nvPr/>
        </p:nvSpPr>
        <p:spPr>
          <a:xfrm>
            <a:off x="1691640" y="5692140"/>
            <a:ext cx="539496" cy="539496"/>
          </a:xfrm>
          <a:prstGeom prst="rect">
            <a:avLst/>
          </a:prstGeom>
          <a:solidFill>
            <a:srgbClr val="4E9C77"/>
          </a:solidFill>
          <a:ln w="12700">
            <a:solidFill>
              <a:srgbClr val="FFFFFF"/>
            </a:solidFill>
            <a:prstDash val="solid"/>
          </a:ln>
        </p:spPr>
      </p:sp>
      <p:sp>
        <p:nvSpPr>
          <p:cNvPr id="63" name="Shape 61"/>
          <p:cNvSpPr/>
          <p:nvPr/>
        </p:nvSpPr>
        <p:spPr>
          <a:xfrm>
            <a:off x="2263140" y="5692140"/>
            <a:ext cx="539496" cy="539496"/>
          </a:xfrm>
          <a:prstGeom prst="rect">
            <a:avLst/>
          </a:prstGeom>
          <a:solidFill>
            <a:srgbClr val="4E9C77"/>
          </a:solidFill>
          <a:ln w="12700">
            <a:solidFill>
              <a:srgbClr val="FFFFFF"/>
            </a:solidFill>
            <a:prstDash val="solid"/>
          </a:ln>
        </p:spPr>
      </p:sp>
      <p:sp>
        <p:nvSpPr>
          <p:cNvPr id="64" name="Shape 62"/>
          <p:cNvSpPr/>
          <p:nvPr/>
        </p:nvSpPr>
        <p:spPr>
          <a:xfrm>
            <a:off x="2834640" y="5692140"/>
            <a:ext cx="539496" cy="539496"/>
          </a:xfrm>
          <a:prstGeom prst="rect">
            <a:avLst/>
          </a:prstGeom>
          <a:solidFill>
            <a:srgbClr val="EEF2F0"/>
          </a:solidFill>
          <a:ln w="12700">
            <a:solidFill>
              <a:srgbClr val="FFFFFF"/>
            </a:solidFill>
            <a:prstDash val="solid"/>
          </a:ln>
        </p:spPr>
      </p:sp>
      <p:sp>
        <p:nvSpPr>
          <p:cNvPr id="65" name="Shape 63"/>
          <p:cNvSpPr/>
          <p:nvPr/>
        </p:nvSpPr>
        <p:spPr>
          <a:xfrm>
            <a:off x="3406140" y="5692140"/>
            <a:ext cx="539496" cy="539496"/>
          </a:xfrm>
          <a:prstGeom prst="rect">
            <a:avLst/>
          </a:prstGeom>
          <a:solidFill>
            <a:srgbClr val="4E9C77"/>
          </a:solidFill>
          <a:ln w="12700">
            <a:solidFill>
              <a:srgbClr val="FFFFFF"/>
            </a:solidFill>
            <a:prstDash val="solid"/>
          </a:ln>
        </p:spPr>
      </p:sp>
      <p:sp>
        <p:nvSpPr>
          <p:cNvPr id="66" name="Shape 64"/>
          <p:cNvSpPr/>
          <p:nvPr/>
        </p:nvSpPr>
        <p:spPr>
          <a:xfrm>
            <a:off x="3977640" y="5692140"/>
            <a:ext cx="539496" cy="539496"/>
          </a:xfrm>
          <a:prstGeom prst="rect">
            <a:avLst/>
          </a:prstGeom>
          <a:solidFill>
            <a:srgbClr val="EEF2F0"/>
          </a:solidFill>
          <a:ln w="12700">
            <a:solidFill>
              <a:srgbClr val="FFFFFF"/>
            </a:solidFill>
            <a:prstDash val="solid"/>
          </a:ln>
        </p:spPr>
      </p:sp>
      <p:sp>
        <p:nvSpPr>
          <p:cNvPr id="67" name="Shape 65"/>
          <p:cNvSpPr/>
          <p:nvPr/>
        </p:nvSpPr>
        <p:spPr>
          <a:xfrm>
            <a:off x="4549140" y="5692140"/>
            <a:ext cx="539496" cy="539496"/>
          </a:xfrm>
          <a:prstGeom prst="rect">
            <a:avLst/>
          </a:prstGeom>
          <a:solidFill>
            <a:srgbClr val="E8622C"/>
          </a:solidFill>
          <a:ln w="12700">
            <a:solidFill>
              <a:srgbClr val="FFFFFF"/>
            </a:solidFill>
            <a:prstDash val="solid"/>
          </a:ln>
        </p:spPr>
      </p:sp>
      <p:sp>
        <p:nvSpPr>
          <p:cNvPr id="68" name="Text 66"/>
          <p:cNvSpPr/>
          <p:nvPr/>
        </p:nvSpPr>
        <p:spPr>
          <a:xfrm>
            <a:off x="548640" y="6400800"/>
            <a:ext cx="4572000" cy="320040"/>
          </a:xfrm>
          <a:prstGeom prst="rect">
            <a:avLst/>
          </a:prstGeom>
          <a:noFill/>
          <a:ln/>
        </p:spPr>
        <p:txBody>
          <a:bodyPr wrap="square" rtlCol="0" anchor="ctr"/>
          <a:lstStyle/>
          <a:p>
            <a:pPr marL="0" indent="0">
              <a:buNone/>
            </a:pPr>
            <a:r>
              <a:rPr lang="en-US" sz="1150" i="1" dirty="0">
                <a:solidFill>
                  <a:srgbClr val="5B6B66"/>
                </a:solidFill>
                <a:latin typeface="Calibri" pitchFamily="34" charset="0"/>
                <a:ea typeface="Calibri" pitchFamily="34" charset="-122"/>
                <a:cs typeface="Calibri" pitchFamily="34" charset="-120"/>
              </a:rPr>
              <a:t>Kothrud tessellated into ~250m × 250m spatial blocks</a:t>
            </a:r>
            <a:endParaRPr lang="en-US" sz="1150" dirty="0"/>
          </a:p>
        </p:txBody>
      </p:sp>
      <p:sp>
        <p:nvSpPr>
          <p:cNvPr id="69" name="Text 67"/>
          <p:cNvSpPr/>
          <p:nvPr/>
        </p:nvSpPr>
        <p:spPr>
          <a:xfrm>
            <a:off x="5532120" y="1691640"/>
            <a:ext cx="5486400" cy="274320"/>
          </a:xfrm>
          <a:prstGeom prst="rect">
            <a:avLst/>
          </a:prstGeom>
          <a:noFill/>
          <a:ln/>
        </p:spPr>
        <p:txBody>
          <a:bodyPr wrap="square" rtlCol="0" anchor="ctr"/>
          <a:lstStyle/>
          <a:p>
            <a:pPr marL="0" indent="0">
              <a:buNone/>
            </a:pPr>
            <a:r>
              <a:rPr lang="en-US" sz="1200" b="1" kern="0" spc="200" dirty="0">
                <a:solidFill>
                  <a:srgbClr val="E8622C"/>
                </a:solidFill>
                <a:latin typeface="Calibri" pitchFamily="34" charset="0"/>
                <a:ea typeface="Calibri" pitchFamily="34" charset="-122"/>
                <a:cs typeface="Calibri" pitchFamily="34" charset="-120"/>
              </a:rPr>
              <a:t>DATA FUSION STEPS</a:t>
            </a:r>
            <a:endParaRPr lang="en-US" sz="1200" dirty="0"/>
          </a:p>
        </p:txBody>
      </p:sp>
      <p:sp>
        <p:nvSpPr>
          <p:cNvPr id="70" name="Text 68"/>
          <p:cNvSpPr/>
          <p:nvPr/>
        </p:nvSpPr>
        <p:spPr>
          <a:xfrm>
            <a:off x="5532120" y="2029968"/>
            <a:ext cx="5943600" cy="2743200"/>
          </a:xfrm>
          <a:prstGeom prst="rect">
            <a:avLst/>
          </a:prstGeom>
          <a:noFill/>
          <a:ln/>
        </p:spPr>
        <p:txBody>
          <a:bodyPr wrap="square" rtlCol="0" anchor="ctr"/>
          <a:lstStyle/>
          <a:p>
            <a:pPr marL="203200" indent="-203200">
              <a:lnSpc>
                <a:spcPct val="132000"/>
              </a:lnSpc>
              <a:spcAft>
                <a:spcPts val="1000"/>
              </a:spcAft>
              <a:buSzPct val="100000"/>
              <a:buChar char="•"/>
            </a:pPr>
            <a:r>
              <a:rPr lang="en-US" sz="1350" dirty="0">
                <a:solidFill>
                  <a:srgbClr val="1A211F"/>
                </a:solidFill>
                <a:latin typeface="Calibri" pitchFamily="34" charset="0"/>
                <a:ea typeface="Calibri" pitchFamily="34" charset="-122"/>
                <a:cs typeface="Calibri" pitchFamily="34" charset="-120"/>
              </a:rPr>
              <a:t>Tessellated Kothrud into ~250m × 250m spatial city blocks.</a:t>
            </a:r>
            <a:endParaRPr lang="en-US" sz="1350" dirty="0"/>
          </a:p>
          <a:p>
            <a:pPr marL="203200" indent="-203200">
              <a:lnSpc>
                <a:spcPct val="132000"/>
              </a:lnSpc>
              <a:spcAft>
                <a:spcPts val="1000"/>
              </a:spcAft>
              <a:buSzPct val="100000"/>
              <a:buChar char="•"/>
            </a:pPr>
            <a:r>
              <a:rPr lang="en-US" sz="1350" dirty="0">
                <a:solidFill>
                  <a:srgbClr val="1A211F"/>
                </a:solidFill>
                <a:latin typeface="Calibri" pitchFamily="34" charset="0"/>
                <a:ea typeface="Calibri" pitchFamily="34" charset="-122"/>
                <a:cs typeface="Calibri" pitchFamily="34" charset="-120"/>
              </a:rPr>
              <a:t>Overlaid OpenStreetMap data: 12,758 building footprints and 4,705 road segments.</a:t>
            </a:r>
            <a:endParaRPr lang="en-US" sz="1350" dirty="0"/>
          </a:p>
          <a:p>
            <a:pPr marL="203200" indent="-203200">
              <a:lnSpc>
                <a:spcPct val="132000"/>
              </a:lnSpc>
              <a:spcAft>
                <a:spcPts val="1000"/>
              </a:spcAft>
              <a:buSzPct val="100000"/>
              <a:buChar char="•"/>
            </a:pPr>
            <a:r>
              <a:rPr lang="en-US" sz="1350" dirty="0">
                <a:solidFill>
                  <a:srgbClr val="1A211F"/>
                </a:solidFill>
                <a:latin typeface="Calibri" pitchFamily="34" charset="0"/>
                <a:ea typeface="Calibri" pitchFamily="34" charset="-122"/>
                <a:cs typeface="Calibri" pitchFamily="34" charset="-120"/>
              </a:rPr>
              <a:t>Vectorized the segmentation raster into 22,825 land-cover polygons.</a:t>
            </a:r>
            <a:endParaRPr lang="en-US" sz="1350" dirty="0"/>
          </a:p>
          <a:p>
            <a:pPr marL="203200" indent="-203200">
              <a:lnSpc>
                <a:spcPct val="132000"/>
              </a:lnSpc>
              <a:spcAft>
                <a:spcPts val="1000"/>
              </a:spcAft>
              <a:buSzPct val="100000"/>
              <a:buChar char="•"/>
            </a:pPr>
            <a:r>
              <a:rPr lang="en-US" sz="1350" dirty="0">
                <a:solidFill>
                  <a:srgbClr val="1A211F"/>
                </a:solidFill>
                <a:latin typeface="Calibri" pitchFamily="34" charset="0"/>
                <a:ea typeface="Calibri" pitchFamily="34" charset="-122"/>
                <a:cs typeface="Calibri" pitchFamily="34" charset="-120"/>
              </a:rPr>
              <a:t>Spatially fused raster segmentation with vector OSM data — 40,288 merged features total.</a:t>
            </a:r>
            <a:endParaRPr lang="en-US" sz="1350" dirty="0"/>
          </a:p>
          <a:p>
            <a:pPr marL="203200" indent="-203200">
              <a:lnSpc>
                <a:spcPct val="132000"/>
              </a:lnSpc>
              <a:spcAft>
                <a:spcPts val="1000"/>
              </a:spcAft>
              <a:buSzPct val="100000"/>
              <a:buChar char="•"/>
            </a:pPr>
            <a:r>
              <a:rPr lang="en-US" sz="1350" dirty="0">
                <a:solidFill>
                  <a:srgbClr val="1A211F"/>
                </a:solidFill>
                <a:latin typeface="Calibri" pitchFamily="34" charset="0"/>
                <a:ea typeface="Calibri" pitchFamily="34" charset="-122"/>
                <a:cs typeface="Calibri" pitchFamily="34" charset="-120"/>
              </a:rPr>
              <a:t>Aggregated to block level: canopy fraction, impervious fraction, tree density, and more.</a:t>
            </a:r>
            <a:endParaRPr lang="en-US" sz="1350" dirty="0"/>
          </a:p>
        </p:txBody>
      </p:sp>
      <p:sp>
        <p:nvSpPr>
          <p:cNvPr id="71" name="Shape 69"/>
          <p:cNvSpPr/>
          <p:nvPr/>
        </p:nvSpPr>
        <p:spPr>
          <a:xfrm>
            <a:off x="5532120" y="5029200"/>
            <a:ext cx="5943600" cy="1051560"/>
          </a:xfrm>
          <a:prstGeom prst="rect">
            <a:avLst/>
          </a:prstGeom>
          <a:solidFill>
            <a:srgbClr val="EEF2F0"/>
          </a:solidFill>
          <a:ln/>
        </p:spPr>
      </p:sp>
      <p:sp>
        <p:nvSpPr>
          <p:cNvPr id="72" name="Text 70"/>
          <p:cNvSpPr/>
          <p:nvPr/>
        </p:nvSpPr>
        <p:spPr>
          <a:xfrm>
            <a:off x="5760720" y="5029200"/>
            <a:ext cx="5486400" cy="1051560"/>
          </a:xfrm>
          <a:prstGeom prst="rect">
            <a:avLst/>
          </a:prstGeom>
          <a:noFill/>
          <a:ln/>
        </p:spPr>
        <p:txBody>
          <a:bodyPr wrap="square" rtlCol="0" anchor="ctr"/>
          <a:lstStyle/>
          <a:p>
            <a:pPr marL="0" indent="0">
              <a:lnSpc>
                <a:spcPct val="120000"/>
              </a:lnSpc>
              <a:buNone/>
            </a:pPr>
            <a:r>
              <a:rPr lang="en-US" sz="2400" b="1" dirty="0">
                <a:solidFill>
                  <a:srgbClr val="4E9C77"/>
                </a:solidFill>
                <a:latin typeface="Calibri" pitchFamily="34" charset="0"/>
                <a:ea typeface="Calibri" pitchFamily="34" charset="-122"/>
                <a:cs typeface="Calibri" pitchFamily="34" charset="-120"/>
              </a:rPr>
              <a:t>40,288</a:t>
            </a:r>
            <a:r>
              <a:rPr lang="en-US" sz="1250" dirty="0">
                <a:solidFill>
                  <a:srgbClr val="5B6B66"/>
                </a:solidFill>
                <a:latin typeface="Calibri" pitchFamily="34" charset="0"/>
                <a:ea typeface="Calibri" pitchFamily="34" charset="-122"/>
                <a:cs typeface="Calibri" pitchFamily="34" charset="-120"/>
              </a:rPr>
              <a:t>  total merged features from raster + vector spatial join</a:t>
            </a:r>
            <a:endParaRPr lang="en-US" sz="2400" dirty="0"/>
          </a:p>
        </p:txBody>
      </p:sp>
      <p:sp>
        <p:nvSpPr>
          <p:cNvPr id="73" name="Text 71"/>
          <p:cNvSpPr/>
          <p:nvPr/>
        </p:nvSpPr>
        <p:spPr>
          <a:xfrm>
            <a:off x="11551615" y="6446520"/>
            <a:ext cx="457200" cy="274320"/>
          </a:xfrm>
          <a:prstGeom prst="rect">
            <a:avLst/>
          </a:prstGeom>
          <a:noFill/>
          <a:ln/>
        </p:spPr>
        <p:txBody>
          <a:bodyPr wrap="square" rtlCol="0" anchor="ctr"/>
          <a:lstStyle/>
          <a:p>
            <a:pPr marL="0" indent="0" algn="r">
              <a:buNone/>
            </a:pPr>
            <a:r>
              <a:rPr lang="en-US" sz="900" dirty="0">
                <a:solidFill>
                  <a:srgbClr val="5B6B66"/>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4D3D"/>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rtlCol="0" anchor="ctr"/>
          <a:lstStyle/>
          <a:p>
            <a:pPr marL="0" indent="0">
              <a:buNone/>
            </a:pPr>
            <a:r>
              <a:rPr lang="en-US" sz="1150" b="1" kern="0" spc="200" dirty="0">
                <a:solidFill>
                  <a:srgbClr val="8FC1A8"/>
                </a:solidFill>
                <a:latin typeface="Calibri" pitchFamily="34" charset="0"/>
                <a:ea typeface="Calibri" pitchFamily="34" charset="-122"/>
                <a:cs typeface="Calibri" pitchFamily="34" charset="-120"/>
              </a:rPr>
              <a:t>BEYOND THE STANDARD FIXED-WEIGHT INDEX</a:t>
            </a:r>
            <a:endParaRPr lang="en-US" sz="1150" dirty="0"/>
          </a:p>
        </p:txBody>
      </p:sp>
      <p:sp>
        <p:nvSpPr>
          <p:cNvPr id="3" name="Text 1"/>
          <p:cNvSpPr/>
          <p:nvPr/>
        </p:nvSpPr>
        <p:spPr>
          <a:xfrm>
            <a:off x="548640" y="749808"/>
            <a:ext cx="10789920" cy="594360"/>
          </a:xfrm>
          <a:prstGeom prst="rect">
            <a:avLst/>
          </a:prstGeom>
          <a:noFill/>
          <a:ln/>
        </p:spPr>
        <p:txBody>
          <a:bodyPr wrap="square" rtlCol="0" anchor="ctr"/>
          <a:lstStyle/>
          <a:p>
            <a:pPr marL="0" indent="0">
              <a:buNone/>
            </a:pPr>
            <a:r>
              <a:rPr lang="en-US" sz="2900" b="1" dirty="0">
                <a:solidFill>
                  <a:srgbClr val="FFFFFF"/>
                </a:solidFill>
                <a:latin typeface="Cambria" pitchFamily="34" charset="0"/>
                <a:ea typeface="Cambria" pitchFamily="34" charset="-122"/>
                <a:cs typeface="Cambria" pitchFamily="34" charset="-120"/>
              </a:rPr>
              <a:t>The Core Novelty: Why a New UEHI Formula?</a:t>
            </a:r>
            <a:endParaRPr lang="en-US" sz="2900" dirty="0"/>
          </a:p>
        </p:txBody>
      </p:sp>
      <p:sp>
        <p:nvSpPr>
          <p:cNvPr id="4" name="Shape 2"/>
          <p:cNvSpPr/>
          <p:nvPr/>
        </p:nvSpPr>
        <p:spPr>
          <a:xfrm>
            <a:off x="548640" y="1691640"/>
            <a:ext cx="5349240" cy="4480560"/>
          </a:xfrm>
          <a:prstGeom prst="rect">
            <a:avLst/>
          </a:prstGeom>
          <a:solidFill>
            <a:srgbClr val="2A5F4C"/>
          </a:solidFill>
          <a:ln/>
        </p:spPr>
      </p:sp>
      <p:sp>
        <p:nvSpPr>
          <p:cNvPr id="5" name="Text 3"/>
          <p:cNvSpPr/>
          <p:nvPr/>
        </p:nvSpPr>
        <p:spPr>
          <a:xfrm>
            <a:off x="868680" y="1920240"/>
            <a:ext cx="4572000" cy="292608"/>
          </a:xfrm>
          <a:prstGeom prst="rect">
            <a:avLst/>
          </a:prstGeom>
          <a:noFill/>
          <a:ln/>
        </p:spPr>
        <p:txBody>
          <a:bodyPr wrap="square" rtlCol="0" anchor="ctr"/>
          <a:lstStyle/>
          <a:p>
            <a:pPr marL="0" indent="0">
              <a:buNone/>
            </a:pPr>
            <a:r>
              <a:rPr lang="en-US" sz="1250" b="1" kern="0" spc="150" dirty="0">
                <a:solidFill>
                  <a:srgbClr val="9FB3AD"/>
                </a:solidFill>
                <a:latin typeface="Calibri" pitchFamily="34" charset="0"/>
                <a:ea typeface="Calibri" pitchFamily="34" charset="-122"/>
                <a:cs typeface="Calibri" pitchFamily="34" charset="-120"/>
              </a:rPr>
              <a:t>STANDARD APPROACH</a:t>
            </a:r>
            <a:endParaRPr lang="en-US" sz="1250" dirty="0"/>
          </a:p>
        </p:txBody>
      </p:sp>
      <p:sp>
        <p:nvSpPr>
          <p:cNvPr id="6" name="Text 4"/>
          <p:cNvSpPr/>
          <p:nvPr/>
        </p:nvSpPr>
        <p:spPr>
          <a:xfrm>
            <a:off x="868680" y="2313432"/>
            <a:ext cx="4754880" cy="457200"/>
          </a:xfrm>
          <a:prstGeom prst="rect">
            <a:avLst/>
          </a:prstGeom>
          <a:noFill/>
          <a:ln/>
        </p:spPr>
        <p:txBody>
          <a:bodyPr wrap="square" rtlCol="0" anchor="ctr"/>
          <a:lstStyle/>
          <a:p>
            <a:pPr marL="0" indent="0">
              <a:buNone/>
            </a:pPr>
            <a:r>
              <a:rPr lang="en-US" sz="1700" i="1" dirty="0">
                <a:solidFill>
                  <a:srgbClr val="FFFFFF"/>
                </a:solidFill>
                <a:latin typeface="Cambria" pitchFamily="34" charset="0"/>
                <a:ea typeface="Cambria" pitchFamily="34" charset="-122"/>
                <a:cs typeface="Cambria" pitchFamily="34" charset="-120"/>
              </a:rPr>
              <a:t>Index = w₁x₁ + w₂x₂ + … + wₙxₙ</a:t>
            </a:r>
            <a:endParaRPr lang="en-US" sz="1700" dirty="0"/>
          </a:p>
        </p:txBody>
      </p:sp>
      <p:sp>
        <p:nvSpPr>
          <p:cNvPr id="7" name="Text 5"/>
          <p:cNvSpPr/>
          <p:nvPr/>
        </p:nvSpPr>
        <p:spPr>
          <a:xfrm>
            <a:off x="868680" y="2926080"/>
            <a:ext cx="4754880" cy="2926080"/>
          </a:xfrm>
          <a:prstGeom prst="rect">
            <a:avLst/>
          </a:prstGeom>
          <a:noFill/>
          <a:ln/>
        </p:spPr>
        <p:txBody>
          <a:bodyPr wrap="square" rtlCol="0" anchor="ctr"/>
          <a:lstStyle/>
          <a:p>
            <a:pPr marL="203200" indent="-203200">
              <a:lnSpc>
                <a:spcPct val="135000"/>
              </a:lnSpc>
              <a:spcAft>
                <a:spcPts val="1000"/>
              </a:spcAft>
              <a:buSzPct val="100000"/>
              <a:buChar char="•"/>
            </a:pPr>
            <a:r>
              <a:rPr lang="en-US" sz="1350" dirty="0">
                <a:solidFill>
                  <a:srgbClr val="C7D3CF"/>
                </a:solidFill>
                <a:latin typeface="Calibri" pitchFamily="34" charset="0"/>
                <a:ea typeface="Calibri" pitchFamily="34" charset="-122"/>
                <a:cs typeface="Calibri" pitchFamily="34" charset="-120"/>
              </a:rPr>
              <a:t>Weights assigned once, by expert judgment.</a:t>
            </a:r>
            <a:endParaRPr lang="en-US" sz="1350" dirty="0"/>
          </a:p>
          <a:p>
            <a:pPr marL="203200" indent="-203200">
              <a:lnSpc>
                <a:spcPct val="135000"/>
              </a:lnSpc>
              <a:spcAft>
                <a:spcPts val="1000"/>
              </a:spcAft>
              <a:buSzPct val="100000"/>
              <a:buChar char="•"/>
            </a:pPr>
            <a:r>
              <a:rPr lang="en-US" sz="1350" dirty="0">
                <a:solidFill>
                  <a:srgbClr val="C7D3CF"/>
                </a:solidFill>
                <a:latin typeface="Calibri" pitchFamily="34" charset="0"/>
                <a:ea typeface="Calibri" pitchFamily="34" charset="-122"/>
                <a:cs typeface="Calibri" pitchFamily="34" charset="-120"/>
              </a:rPr>
              <a:t>Same fixed formula applied to every city, everywhere.</a:t>
            </a:r>
            <a:endParaRPr lang="en-US" sz="1350" dirty="0"/>
          </a:p>
          <a:p>
            <a:pPr marL="203200" indent="-203200">
              <a:lnSpc>
                <a:spcPct val="135000"/>
              </a:lnSpc>
              <a:spcAft>
                <a:spcPts val="1000"/>
              </a:spcAft>
              <a:buSzPct val="100000"/>
              <a:buChar char="•"/>
            </a:pPr>
            <a:r>
              <a:rPr lang="en-US" sz="1350" dirty="0">
                <a:solidFill>
                  <a:srgbClr val="C7D3CF"/>
                </a:solidFill>
                <a:latin typeface="Calibri" pitchFamily="34" charset="0"/>
                <a:ea typeface="Calibri" pitchFamily="34" charset="-122"/>
                <a:cs typeface="Calibri" pitchFamily="34" charset="-120"/>
              </a:rPr>
              <a:t>Factors treated as fully independent of each other.</a:t>
            </a:r>
            <a:endParaRPr lang="en-US" sz="1350" dirty="0"/>
          </a:p>
          <a:p>
            <a:pPr marL="203200" indent="-203200">
              <a:lnSpc>
                <a:spcPct val="135000"/>
              </a:lnSpc>
              <a:spcAft>
                <a:spcPts val="1000"/>
              </a:spcAft>
              <a:buSzPct val="100000"/>
              <a:buChar char="•"/>
            </a:pPr>
            <a:r>
              <a:rPr lang="en-US" sz="1350" dirty="0">
                <a:solidFill>
                  <a:srgbClr val="C7D3CF"/>
                </a:solidFill>
                <a:latin typeface="Calibri" pitchFamily="34" charset="0"/>
                <a:ea typeface="Calibri" pitchFamily="34" charset="-122"/>
                <a:cs typeface="Calibri" pitchFamily="34" charset="-120"/>
              </a:rPr>
              <a:t>Hard to defend rigorously when challenged.</a:t>
            </a:r>
            <a:endParaRPr lang="en-US" sz="1350" dirty="0"/>
          </a:p>
        </p:txBody>
      </p:sp>
      <p:sp>
        <p:nvSpPr>
          <p:cNvPr id="8" name="Shape 6"/>
          <p:cNvSpPr/>
          <p:nvPr/>
        </p:nvSpPr>
        <p:spPr>
          <a:xfrm>
            <a:off x="6263640" y="1691640"/>
            <a:ext cx="5349240" cy="4480560"/>
          </a:xfrm>
          <a:prstGeom prst="rect">
            <a:avLst/>
          </a:prstGeom>
          <a:solidFill>
            <a:srgbClr val="4E9C77"/>
          </a:solidFill>
          <a:ln/>
        </p:spPr>
      </p:sp>
      <p:sp>
        <p:nvSpPr>
          <p:cNvPr id="9" name="Text 7"/>
          <p:cNvSpPr/>
          <p:nvPr/>
        </p:nvSpPr>
        <p:spPr>
          <a:xfrm>
            <a:off x="6583680" y="1920240"/>
            <a:ext cx="4572000" cy="292608"/>
          </a:xfrm>
          <a:prstGeom prst="rect">
            <a:avLst/>
          </a:prstGeom>
          <a:noFill/>
          <a:ln/>
        </p:spPr>
        <p:txBody>
          <a:bodyPr wrap="square" rtlCol="0" anchor="ctr"/>
          <a:lstStyle/>
          <a:p>
            <a:pPr marL="0" indent="0">
              <a:buNone/>
            </a:pPr>
            <a:r>
              <a:rPr lang="en-US" sz="1250" b="1" kern="0" spc="150" dirty="0">
                <a:solidFill>
                  <a:srgbClr val="0D211A"/>
                </a:solidFill>
                <a:latin typeface="Calibri" pitchFamily="34" charset="0"/>
                <a:ea typeface="Calibri" pitchFamily="34" charset="-122"/>
                <a:cs typeface="Calibri" pitchFamily="34" charset="-120"/>
              </a:rPr>
              <a:t>UEHIS APPROACH</a:t>
            </a:r>
            <a:endParaRPr lang="en-US" sz="1250" dirty="0"/>
          </a:p>
        </p:txBody>
      </p:sp>
      <p:sp>
        <p:nvSpPr>
          <p:cNvPr id="10" name="Text 8"/>
          <p:cNvSpPr/>
          <p:nvPr/>
        </p:nvSpPr>
        <p:spPr>
          <a:xfrm>
            <a:off x="6583680" y="2313432"/>
            <a:ext cx="4754880" cy="457200"/>
          </a:xfrm>
          <a:prstGeom prst="rect">
            <a:avLst/>
          </a:prstGeom>
          <a:noFill/>
          <a:ln/>
        </p:spPr>
        <p:txBody>
          <a:bodyPr wrap="square" rtlCol="0" anchor="ctr"/>
          <a:lstStyle/>
          <a:p>
            <a:pPr marL="0" indent="0">
              <a:buNone/>
            </a:pPr>
            <a:r>
              <a:rPr lang="en-US" sz="1700" i="1" dirty="0">
                <a:solidFill>
                  <a:srgbClr val="FFFFFF"/>
                </a:solidFill>
                <a:latin typeface="Cambria" pitchFamily="34" charset="0"/>
                <a:ea typeface="Cambria" pitchFamily="34" charset="-122"/>
                <a:cs typeface="Cambria" pitchFamily="34" charset="-120"/>
              </a:rPr>
              <a:t>Weights learned from real block-level data</a:t>
            </a:r>
            <a:endParaRPr lang="en-US" sz="1700" dirty="0"/>
          </a:p>
        </p:txBody>
      </p:sp>
      <p:sp>
        <p:nvSpPr>
          <p:cNvPr id="11" name="Text 9"/>
          <p:cNvSpPr/>
          <p:nvPr/>
        </p:nvSpPr>
        <p:spPr>
          <a:xfrm>
            <a:off x="6583680" y="2926080"/>
            <a:ext cx="4754880" cy="2926080"/>
          </a:xfrm>
          <a:prstGeom prst="rect">
            <a:avLst/>
          </a:prstGeom>
          <a:noFill/>
          <a:ln/>
        </p:spPr>
        <p:txBody>
          <a:bodyPr wrap="square" rtlCol="0" anchor="ctr"/>
          <a:lstStyle/>
          <a:p>
            <a:pPr marL="203200" indent="-203200">
              <a:lnSpc>
                <a:spcPct val="135000"/>
              </a:lnSpc>
              <a:spcAft>
                <a:spcPts val="1000"/>
              </a:spcAft>
              <a:buSzPct val="100000"/>
              <a:buChar char="•"/>
            </a:pPr>
            <a:r>
              <a:rPr lang="en-US" sz="1350" dirty="0">
                <a:solidFill>
                  <a:srgbClr val="FFFFFF"/>
                </a:solidFill>
                <a:latin typeface="Calibri" pitchFamily="34" charset="0"/>
                <a:ea typeface="Calibri" pitchFamily="34" charset="-122"/>
                <a:cs typeface="Calibri" pitchFamily="34" charset="-120"/>
              </a:rPr>
              <a:t>Weights computed from real data variance (Shannon entropy).</a:t>
            </a:r>
            <a:endParaRPr lang="en-US" sz="1350" dirty="0"/>
          </a:p>
          <a:p>
            <a:pPr marL="203200" indent="-203200">
              <a:lnSpc>
                <a:spcPct val="135000"/>
              </a:lnSpc>
              <a:spcAft>
                <a:spcPts val="1000"/>
              </a:spcAft>
              <a:buSzPct val="100000"/>
              <a:buChar char="•"/>
            </a:pPr>
            <a:r>
              <a:rPr lang="en-US" sz="1350" dirty="0">
                <a:solidFill>
                  <a:srgbClr val="FFFFFF"/>
                </a:solidFill>
                <a:latin typeface="Calibri" pitchFamily="34" charset="0"/>
                <a:ea typeface="Calibri" pitchFamily="34" charset="-122"/>
                <a:cs typeface="Calibri" pitchFamily="34" charset="-120"/>
              </a:rPr>
              <a:t>Adapts automatically to each city's local conditions.</a:t>
            </a:r>
            <a:endParaRPr lang="en-US" sz="1350" dirty="0"/>
          </a:p>
          <a:p>
            <a:pPr marL="203200" indent="-203200">
              <a:lnSpc>
                <a:spcPct val="135000"/>
              </a:lnSpc>
              <a:spcAft>
                <a:spcPts val="1000"/>
              </a:spcAft>
              <a:buSzPct val="100000"/>
              <a:buChar char="•"/>
            </a:pPr>
            <a:r>
              <a:rPr lang="en-US" sz="1350" dirty="0">
                <a:solidFill>
                  <a:srgbClr val="FFFFFF"/>
                </a:solidFill>
                <a:latin typeface="Calibri" pitchFamily="34" charset="0"/>
                <a:ea typeface="Calibri" pitchFamily="34" charset="-122"/>
                <a:cs typeface="Calibri" pitchFamily="34" charset="-120"/>
              </a:rPr>
              <a:t>Captures a real interaction: canopy cools temperature.</a:t>
            </a:r>
            <a:endParaRPr lang="en-US" sz="1350" dirty="0"/>
          </a:p>
          <a:p>
            <a:pPr marL="203200" indent="-203200">
              <a:lnSpc>
                <a:spcPct val="135000"/>
              </a:lnSpc>
              <a:spcAft>
                <a:spcPts val="1000"/>
              </a:spcAft>
              <a:buSzPct val="100000"/>
              <a:buChar char="•"/>
            </a:pPr>
            <a:r>
              <a:rPr lang="en-US" sz="1350" dirty="0">
                <a:solidFill>
                  <a:srgbClr val="FFFFFF"/>
                </a:solidFill>
                <a:latin typeface="Calibri" pitchFamily="34" charset="0"/>
                <a:ea typeface="Calibri" pitchFamily="34" charset="-122"/>
                <a:cs typeface="Calibri" pitchFamily="34" charset="-120"/>
              </a:rPr>
              <a:t>Population exposure scales urgency, not just adds to it.</a:t>
            </a:r>
            <a:endParaRPr lang="en-US" sz="1350" dirty="0"/>
          </a:p>
        </p:txBody>
      </p:sp>
      <p:sp>
        <p:nvSpPr>
          <p:cNvPr id="12" name="Text 10"/>
          <p:cNvSpPr/>
          <p:nvPr/>
        </p:nvSpPr>
        <p:spPr>
          <a:xfrm>
            <a:off x="11551615" y="6446520"/>
            <a:ext cx="457200" cy="274320"/>
          </a:xfrm>
          <a:prstGeom prst="rect">
            <a:avLst/>
          </a:prstGeom>
          <a:noFill/>
          <a:ln/>
        </p:spPr>
        <p:txBody>
          <a:bodyPr wrap="square" rtlCol="0" anchor="ctr"/>
          <a:lstStyle/>
          <a:p>
            <a:pPr marL="0" indent="0" algn="r">
              <a:buNone/>
            </a:pPr>
            <a:r>
              <a:rPr lang="en-US" sz="900" dirty="0">
                <a:solidFill>
                  <a:srgbClr val="8FA69E"/>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rtlCol="0" anchor="ctr"/>
          <a:lstStyle/>
          <a:p>
            <a:pPr marL="0" indent="0">
              <a:buNone/>
            </a:pPr>
            <a:r>
              <a:rPr lang="en-US" sz="1150" b="1" kern="0" spc="200" dirty="0">
                <a:solidFill>
                  <a:srgbClr val="E8622C"/>
                </a:solidFill>
                <a:latin typeface="Calibri" pitchFamily="34" charset="0"/>
                <a:ea typeface="Calibri" pitchFamily="34" charset="-122"/>
                <a:cs typeface="Calibri" pitchFamily="34" charset="-120"/>
              </a:rPr>
              <a:t>NOVELTY 1 OF 3</a:t>
            </a:r>
            <a:endParaRPr lang="en-US" sz="1150" dirty="0"/>
          </a:p>
        </p:txBody>
      </p:sp>
      <p:sp>
        <p:nvSpPr>
          <p:cNvPr id="3" name="Text 1"/>
          <p:cNvSpPr/>
          <p:nvPr/>
        </p:nvSpPr>
        <p:spPr>
          <a:xfrm>
            <a:off x="548640" y="749808"/>
            <a:ext cx="10972800" cy="594360"/>
          </a:xfrm>
          <a:prstGeom prst="rect">
            <a:avLst/>
          </a:prstGeom>
          <a:noFill/>
          <a:ln/>
        </p:spPr>
        <p:txBody>
          <a:bodyPr wrap="square" rtlCol="0" anchor="ctr"/>
          <a:lstStyle/>
          <a:p>
            <a:pPr marL="0" indent="0">
              <a:buNone/>
            </a:pPr>
            <a:r>
              <a:rPr lang="en-US" sz="2700" b="1" dirty="0">
                <a:solidFill>
                  <a:srgbClr val="1A211F"/>
                </a:solidFill>
                <a:latin typeface="Cambria" pitchFamily="34" charset="0"/>
                <a:ea typeface="Cambria" pitchFamily="34" charset="-122"/>
                <a:cs typeface="Cambria" pitchFamily="34" charset="-120"/>
              </a:rPr>
              <a:t>Formula Breakdown: Data-Driven Entropy Weights</a:t>
            </a:r>
            <a:endParaRPr lang="en-US" sz="2700" dirty="0"/>
          </a:p>
        </p:txBody>
      </p:sp>
      <p:sp>
        <p:nvSpPr>
          <p:cNvPr id="4" name="Shape 2"/>
          <p:cNvSpPr/>
          <p:nvPr/>
        </p:nvSpPr>
        <p:spPr>
          <a:xfrm>
            <a:off x="548640" y="1645920"/>
            <a:ext cx="11091672" cy="1005840"/>
          </a:xfrm>
          <a:prstGeom prst="rect">
            <a:avLst/>
          </a:prstGeom>
          <a:solidFill>
            <a:srgbClr val="1E4D3D"/>
          </a:solidFill>
          <a:ln/>
        </p:spPr>
      </p:sp>
      <p:sp>
        <p:nvSpPr>
          <p:cNvPr id="5" name="Text 3"/>
          <p:cNvSpPr/>
          <p:nvPr/>
        </p:nvSpPr>
        <p:spPr>
          <a:xfrm>
            <a:off x="822960" y="1645920"/>
            <a:ext cx="10515600" cy="1005840"/>
          </a:xfrm>
          <a:prstGeom prst="rect">
            <a:avLst/>
          </a:prstGeom>
          <a:noFill/>
          <a:ln/>
        </p:spPr>
        <p:txBody>
          <a:bodyPr wrap="square" rtlCol="0" anchor="ctr"/>
          <a:lstStyle/>
          <a:p>
            <a:pPr marL="0" indent="0" algn="ctr">
              <a:buNone/>
            </a:pPr>
            <a:r>
              <a:rPr lang="en-US" sz="1700" i="1" dirty="0">
                <a:solidFill>
                  <a:srgbClr val="FFFFFF"/>
                </a:solidFill>
                <a:latin typeface="Cambria" pitchFamily="34" charset="0"/>
                <a:ea typeface="Cambria" pitchFamily="34" charset="-122"/>
                <a:cs typeface="Cambria" pitchFamily="34" charset="-120"/>
              </a:rPr>
              <a:t>p(i,j) = x(i,j) / Σx(i,j)      →      e(j) = −k·Σ p(i,j)·ln(p(i,j))      →      w(j) = (1 − e(j)) / Σ(1 − e(j))</a:t>
            </a:r>
            <a:endParaRPr lang="en-US" sz="1700" dirty="0"/>
          </a:p>
        </p:txBody>
      </p:sp>
      <p:sp>
        <p:nvSpPr>
          <p:cNvPr id="6" name="Shape 4"/>
          <p:cNvSpPr/>
          <p:nvPr/>
        </p:nvSpPr>
        <p:spPr>
          <a:xfrm>
            <a:off x="548640" y="2926080"/>
            <a:ext cx="2651760" cy="3200400"/>
          </a:xfrm>
          <a:prstGeom prst="rect">
            <a:avLst/>
          </a:prstGeom>
          <a:solidFill>
            <a:srgbClr val="EEF2F0"/>
          </a:solidFill>
          <a:ln/>
        </p:spPr>
      </p:sp>
      <p:sp>
        <p:nvSpPr>
          <p:cNvPr id="7" name="Shape 5"/>
          <p:cNvSpPr/>
          <p:nvPr/>
        </p:nvSpPr>
        <p:spPr>
          <a:xfrm>
            <a:off x="749808" y="3145536"/>
            <a:ext cx="402336" cy="402336"/>
          </a:xfrm>
          <a:prstGeom prst="ellipse">
            <a:avLst/>
          </a:prstGeom>
          <a:solidFill>
            <a:srgbClr val="4E9C77"/>
          </a:solidFill>
          <a:ln/>
        </p:spPr>
      </p:sp>
      <p:sp>
        <p:nvSpPr>
          <p:cNvPr id="8" name="Text 6"/>
          <p:cNvSpPr/>
          <p:nvPr/>
        </p:nvSpPr>
        <p:spPr>
          <a:xfrm>
            <a:off x="749808" y="3145536"/>
            <a:ext cx="402336" cy="402336"/>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731520" y="3712464"/>
            <a:ext cx="2286000" cy="594360"/>
          </a:xfrm>
          <a:prstGeom prst="rect">
            <a:avLst/>
          </a:prstGeom>
          <a:noFill/>
          <a:ln/>
        </p:spPr>
        <p:txBody>
          <a:bodyPr wrap="square" rtlCol="0" anchor="ctr"/>
          <a:lstStyle/>
          <a:p>
            <a:pPr marL="0" indent="0">
              <a:lnSpc>
                <a:spcPct val="105000"/>
              </a:lnSpc>
              <a:buNone/>
            </a:pPr>
            <a:r>
              <a:rPr lang="en-US" sz="1350" b="1" dirty="0">
                <a:solidFill>
                  <a:srgbClr val="1A211F"/>
                </a:solidFill>
                <a:latin typeface="Calibri" pitchFamily="34" charset="0"/>
                <a:ea typeface="Calibri" pitchFamily="34" charset="-122"/>
                <a:cs typeface="Calibri" pitchFamily="34" charset="-120"/>
              </a:rPr>
              <a:t>8 Base Factors</a:t>
            </a:r>
            <a:endParaRPr lang="en-US" sz="1350" dirty="0"/>
          </a:p>
        </p:txBody>
      </p:sp>
      <p:sp>
        <p:nvSpPr>
          <p:cNvPr id="10" name="Text 8"/>
          <p:cNvSpPr/>
          <p:nvPr/>
        </p:nvSpPr>
        <p:spPr>
          <a:xfrm>
            <a:off x="731520" y="4297680"/>
            <a:ext cx="2286000" cy="1737360"/>
          </a:xfrm>
          <a:prstGeom prst="rect">
            <a:avLst/>
          </a:prstGeom>
          <a:noFill/>
          <a:ln/>
        </p:spPr>
        <p:txBody>
          <a:bodyPr wrap="square" rtlCol="0" anchor="ctr"/>
          <a:lstStyle/>
          <a:p>
            <a:pPr marL="0" indent="0">
              <a:lnSpc>
                <a:spcPct val="122000"/>
              </a:lnSpc>
              <a:buNone/>
            </a:pPr>
            <a:r>
              <a:rPr lang="en-US" sz="1080" dirty="0">
                <a:solidFill>
                  <a:srgbClr val="5B6B66"/>
                </a:solidFill>
                <a:latin typeface="Calibri" pitchFamily="34" charset="0"/>
                <a:ea typeface="Calibri" pitchFamily="34" charset="-122"/>
                <a:cs typeface="Calibri" pitchFamily="34" charset="-120"/>
              </a:rPr>
              <a:t>Shannon entropy is computed for all 8 base factors: NDVI, tree density, AQI, temperature, impervious surfaces, water availability, biodiversity, and population exposure.</a:t>
            </a:r>
            <a:endParaRPr lang="en-US" sz="1080" dirty="0"/>
          </a:p>
        </p:txBody>
      </p:sp>
      <p:sp>
        <p:nvSpPr>
          <p:cNvPr id="11" name="Shape 9"/>
          <p:cNvSpPr/>
          <p:nvPr/>
        </p:nvSpPr>
        <p:spPr>
          <a:xfrm>
            <a:off x="3419856" y="2926080"/>
            <a:ext cx="2651760" cy="3200400"/>
          </a:xfrm>
          <a:prstGeom prst="rect">
            <a:avLst/>
          </a:prstGeom>
          <a:solidFill>
            <a:srgbClr val="EEF2F0"/>
          </a:solidFill>
          <a:ln/>
        </p:spPr>
      </p:sp>
      <p:sp>
        <p:nvSpPr>
          <p:cNvPr id="12" name="Shape 10"/>
          <p:cNvSpPr/>
          <p:nvPr/>
        </p:nvSpPr>
        <p:spPr>
          <a:xfrm>
            <a:off x="3621024" y="3145536"/>
            <a:ext cx="402336" cy="402336"/>
          </a:xfrm>
          <a:prstGeom prst="ellipse">
            <a:avLst/>
          </a:prstGeom>
          <a:solidFill>
            <a:srgbClr val="E8622C"/>
          </a:solidFill>
          <a:ln/>
        </p:spPr>
      </p:sp>
      <p:sp>
        <p:nvSpPr>
          <p:cNvPr id="13" name="Text 11"/>
          <p:cNvSpPr/>
          <p:nvPr/>
        </p:nvSpPr>
        <p:spPr>
          <a:xfrm>
            <a:off x="3621024" y="3145536"/>
            <a:ext cx="402336" cy="402336"/>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3602736" y="3712464"/>
            <a:ext cx="2286000" cy="594360"/>
          </a:xfrm>
          <a:prstGeom prst="rect">
            <a:avLst/>
          </a:prstGeom>
          <a:noFill/>
          <a:ln/>
        </p:spPr>
        <p:txBody>
          <a:bodyPr wrap="square" rtlCol="0" anchor="ctr"/>
          <a:lstStyle/>
          <a:p>
            <a:pPr marL="0" indent="0">
              <a:lnSpc>
                <a:spcPct val="105000"/>
              </a:lnSpc>
              <a:buNone/>
            </a:pPr>
            <a:r>
              <a:rPr lang="en-US" sz="1350" b="1" dirty="0">
                <a:solidFill>
                  <a:srgbClr val="1A211F"/>
                </a:solidFill>
                <a:latin typeface="Calibri" pitchFamily="34" charset="0"/>
                <a:ea typeface="Calibri" pitchFamily="34" charset="-122"/>
                <a:cs typeface="Calibri" pitchFamily="34" charset="-120"/>
              </a:rPr>
              <a:t>High Entropy → Low Weight</a:t>
            </a:r>
            <a:endParaRPr lang="en-US" sz="1350" dirty="0"/>
          </a:p>
        </p:txBody>
      </p:sp>
      <p:sp>
        <p:nvSpPr>
          <p:cNvPr id="15" name="Text 13"/>
          <p:cNvSpPr/>
          <p:nvPr/>
        </p:nvSpPr>
        <p:spPr>
          <a:xfrm>
            <a:off x="3602736" y="4297680"/>
            <a:ext cx="2286000" cy="1737360"/>
          </a:xfrm>
          <a:prstGeom prst="rect">
            <a:avLst/>
          </a:prstGeom>
          <a:noFill/>
          <a:ln/>
        </p:spPr>
        <p:txBody>
          <a:bodyPr wrap="square" rtlCol="0" anchor="ctr"/>
          <a:lstStyle/>
          <a:p>
            <a:pPr marL="0" indent="0">
              <a:lnSpc>
                <a:spcPct val="122000"/>
              </a:lnSpc>
              <a:buNone/>
            </a:pPr>
            <a:r>
              <a:rPr lang="en-US" sz="1080" dirty="0">
                <a:solidFill>
                  <a:srgbClr val="5B6B66"/>
                </a:solidFill>
                <a:latin typeface="Calibri" pitchFamily="34" charset="0"/>
                <a:ea typeface="Calibri" pitchFamily="34" charset="-122"/>
                <a:cs typeface="Calibri" pitchFamily="34" charset="-120"/>
              </a:rPr>
              <a:t>Factors that stay nearly uniform across blocks carry little discriminating information, so they automatically receive a lower weight.</a:t>
            </a:r>
            <a:endParaRPr lang="en-US" sz="1080" dirty="0"/>
          </a:p>
        </p:txBody>
      </p:sp>
      <p:sp>
        <p:nvSpPr>
          <p:cNvPr id="16" name="Shape 14"/>
          <p:cNvSpPr/>
          <p:nvPr/>
        </p:nvSpPr>
        <p:spPr>
          <a:xfrm>
            <a:off x="6291072" y="2926080"/>
            <a:ext cx="2651760" cy="3200400"/>
          </a:xfrm>
          <a:prstGeom prst="rect">
            <a:avLst/>
          </a:prstGeom>
          <a:solidFill>
            <a:srgbClr val="EEF2F0"/>
          </a:solidFill>
          <a:ln/>
        </p:spPr>
      </p:sp>
      <p:sp>
        <p:nvSpPr>
          <p:cNvPr id="17" name="Shape 15"/>
          <p:cNvSpPr/>
          <p:nvPr/>
        </p:nvSpPr>
        <p:spPr>
          <a:xfrm>
            <a:off x="6492240" y="3145536"/>
            <a:ext cx="402336" cy="402336"/>
          </a:xfrm>
          <a:prstGeom prst="ellipse">
            <a:avLst/>
          </a:prstGeom>
          <a:solidFill>
            <a:srgbClr val="4E9C77"/>
          </a:solidFill>
          <a:ln/>
        </p:spPr>
      </p:sp>
      <p:sp>
        <p:nvSpPr>
          <p:cNvPr id="18" name="Text 16"/>
          <p:cNvSpPr/>
          <p:nvPr/>
        </p:nvSpPr>
        <p:spPr>
          <a:xfrm>
            <a:off x="6492240" y="3145536"/>
            <a:ext cx="402336" cy="402336"/>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6473952" y="3712464"/>
            <a:ext cx="2286000" cy="594360"/>
          </a:xfrm>
          <a:prstGeom prst="rect">
            <a:avLst/>
          </a:prstGeom>
          <a:noFill/>
          <a:ln/>
        </p:spPr>
        <p:txBody>
          <a:bodyPr wrap="square" rtlCol="0" anchor="ctr"/>
          <a:lstStyle/>
          <a:p>
            <a:pPr marL="0" indent="0">
              <a:lnSpc>
                <a:spcPct val="105000"/>
              </a:lnSpc>
              <a:buNone/>
            </a:pPr>
            <a:r>
              <a:rPr lang="en-US" sz="1350" b="1" dirty="0">
                <a:solidFill>
                  <a:srgbClr val="1A211F"/>
                </a:solidFill>
                <a:latin typeface="Calibri" pitchFamily="34" charset="0"/>
                <a:ea typeface="Calibri" pitchFamily="34" charset="-122"/>
                <a:cs typeface="Calibri" pitchFamily="34" charset="-120"/>
              </a:rPr>
              <a:t>Low Entropy → High Weight</a:t>
            </a:r>
            <a:endParaRPr lang="en-US" sz="1350" dirty="0"/>
          </a:p>
        </p:txBody>
      </p:sp>
      <p:sp>
        <p:nvSpPr>
          <p:cNvPr id="20" name="Text 18"/>
          <p:cNvSpPr/>
          <p:nvPr/>
        </p:nvSpPr>
        <p:spPr>
          <a:xfrm>
            <a:off x="6473952" y="4297680"/>
            <a:ext cx="2286000" cy="1737360"/>
          </a:xfrm>
          <a:prstGeom prst="rect">
            <a:avLst/>
          </a:prstGeom>
          <a:noFill/>
          <a:ln/>
        </p:spPr>
        <p:txBody>
          <a:bodyPr wrap="square" rtlCol="0" anchor="ctr"/>
          <a:lstStyle/>
          <a:p>
            <a:pPr marL="0" indent="0">
              <a:lnSpc>
                <a:spcPct val="122000"/>
              </a:lnSpc>
              <a:buNone/>
            </a:pPr>
            <a:r>
              <a:rPr lang="en-US" sz="1080" dirty="0">
                <a:solidFill>
                  <a:srgbClr val="5B6B66"/>
                </a:solidFill>
                <a:latin typeface="Calibri" pitchFamily="34" charset="0"/>
                <a:ea typeface="Calibri" pitchFamily="34" charset="-122"/>
                <a:cs typeface="Calibri" pitchFamily="34" charset="-120"/>
              </a:rPr>
              <a:t>Factors that vary a lot from block to block are more informative for telling blocks apart, so they automatically receive a higher weight.</a:t>
            </a:r>
            <a:endParaRPr lang="en-US" sz="1080" dirty="0"/>
          </a:p>
        </p:txBody>
      </p:sp>
      <p:sp>
        <p:nvSpPr>
          <p:cNvPr id="21" name="Shape 19"/>
          <p:cNvSpPr/>
          <p:nvPr/>
        </p:nvSpPr>
        <p:spPr>
          <a:xfrm>
            <a:off x="9162288" y="2926080"/>
            <a:ext cx="2651760" cy="3200400"/>
          </a:xfrm>
          <a:prstGeom prst="rect">
            <a:avLst/>
          </a:prstGeom>
          <a:solidFill>
            <a:srgbClr val="EEF2F0"/>
          </a:solidFill>
          <a:ln/>
        </p:spPr>
      </p:sp>
      <p:sp>
        <p:nvSpPr>
          <p:cNvPr id="22" name="Shape 20"/>
          <p:cNvSpPr/>
          <p:nvPr/>
        </p:nvSpPr>
        <p:spPr>
          <a:xfrm>
            <a:off x="9363456" y="3145536"/>
            <a:ext cx="402336" cy="402336"/>
          </a:xfrm>
          <a:prstGeom prst="ellipse">
            <a:avLst/>
          </a:prstGeom>
          <a:solidFill>
            <a:srgbClr val="E8622C"/>
          </a:solidFill>
          <a:ln/>
        </p:spPr>
      </p:sp>
      <p:sp>
        <p:nvSpPr>
          <p:cNvPr id="23" name="Text 21"/>
          <p:cNvSpPr/>
          <p:nvPr/>
        </p:nvSpPr>
        <p:spPr>
          <a:xfrm>
            <a:off x="9363456" y="3145536"/>
            <a:ext cx="402336" cy="402336"/>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2"/>
          <p:cNvSpPr/>
          <p:nvPr/>
        </p:nvSpPr>
        <p:spPr>
          <a:xfrm>
            <a:off x="9345168" y="3712464"/>
            <a:ext cx="2286000" cy="594360"/>
          </a:xfrm>
          <a:prstGeom prst="rect">
            <a:avLst/>
          </a:prstGeom>
          <a:noFill/>
          <a:ln/>
        </p:spPr>
        <p:txBody>
          <a:bodyPr wrap="square" rtlCol="0" anchor="ctr"/>
          <a:lstStyle/>
          <a:p>
            <a:pPr marL="0" indent="0">
              <a:lnSpc>
                <a:spcPct val="105000"/>
              </a:lnSpc>
              <a:buNone/>
            </a:pPr>
            <a:r>
              <a:rPr lang="en-US" sz="1350" b="1" dirty="0">
                <a:solidFill>
                  <a:srgbClr val="1A211F"/>
                </a:solidFill>
                <a:latin typeface="Calibri" pitchFamily="34" charset="0"/>
                <a:ea typeface="Calibri" pitchFamily="34" charset="-122"/>
                <a:cs typeface="Calibri" pitchFamily="34" charset="-120"/>
              </a:rPr>
              <a:t>Genuinely Adaptive</a:t>
            </a:r>
            <a:endParaRPr lang="en-US" sz="1350" dirty="0"/>
          </a:p>
        </p:txBody>
      </p:sp>
      <p:sp>
        <p:nvSpPr>
          <p:cNvPr id="25" name="Text 23"/>
          <p:cNvSpPr/>
          <p:nvPr/>
        </p:nvSpPr>
        <p:spPr>
          <a:xfrm>
            <a:off x="9345168" y="4297680"/>
            <a:ext cx="2286000" cy="1737360"/>
          </a:xfrm>
          <a:prstGeom prst="rect">
            <a:avLst/>
          </a:prstGeom>
          <a:noFill/>
          <a:ln/>
        </p:spPr>
        <p:txBody>
          <a:bodyPr wrap="square" rtlCol="0" anchor="ctr"/>
          <a:lstStyle/>
          <a:p>
            <a:pPr marL="0" indent="0">
              <a:lnSpc>
                <a:spcPct val="122000"/>
              </a:lnSpc>
              <a:buNone/>
            </a:pPr>
            <a:r>
              <a:rPr lang="en-US" sz="1080" dirty="0">
                <a:solidFill>
                  <a:srgbClr val="5B6B66"/>
                </a:solidFill>
                <a:latin typeface="Calibri" pitchFamily="34" charset="0"/>
                <a:ea typeface="Calibri" pitchFamily="34" charset="-122"/>
                <a:cs typeface="Calibri" pitchFamily="34" charset="-120"/>
              </a:rPr>
              <a:t>Weights are recalculated from real block data, not assumed — they adapt per city instead of being fixed everywhere.</a:t>
            </a:r>
            <a:endParaRPr lang="en-US" sz="1080" dirty="0"/>
          </a:p>
        </p:txBody>
      </p:sp>
      <p:sp>
        <p:nvSpPr>
          <p:cNvPr id="26" name="Text 24"/>
          <p:cNvSpPr/>
          <p:nvPr/>
        </p:nvSpPr>
        <p:spPr>
          <a:xfrm>
            <a:off x="11551615" y="6446520"/>
            <a:ext cx="457200" cy="274320"/>
          </a:xfrm>
          <a:prstGeom prst="rect">
            <a:avLst/>
          </a:prstGeom>
          <a:noFill/>
          <a:ln/>
        </p:spPr>
        <p:txBody>
          <a:bodyPr wrap="square" rtlCol="0" anchor="ctr"/>
          <a:lstStyle/>
          <a:p>
            <a:pPr marL="0" indent="0" algn="r">
              <a:buNone/>
            </a:pPr>
            <a:r>
              <a:rPr lang="en-US" sz="900" dirty="0">
                <a:solidFill>
                  <a:srgbClr val="5B6B66"/>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rtlCol="0" anchor="ctr"/>
          <a:lstStyle/>
          <a:p>
            <a:pPr marL="0" indent="0">
              <a:buNone/>
            </a:pPr>
            <a:r>
              <a:rPr lang="en-US" sz="1150" b="1" kern="0" spc="200" dirty="0">
                <a:solidFill>
                  <a:srgbClr val="E8622C"/>
                </a:solidFill>
                <a:latin typeface="Calibri" pitchFamily="34" charset="0"/>
                <a:ea typeface="Calibri" pitchFamily="34" charset="-122"/>
                <a:cs typeface="Calibri" pitchFamily="34" charset="-120"/>
              </a:rPr>
              <a:t>NOVELTY 2 AND 3 OF 3</a:t>
            </a:r>
            <a:endParaRPr lang="en-US" sz="1150" dirty="0"/>
          </a:p>
        </p:txBody>
      </p:sp>
      <p:sp>
        <p:nvSpPr>
          <p:cNvPr id="3" name="Text 1"/>
          <p:cNvSpPr/>
          <p:nvPr/>
        </p:nvSpPr>
        <p:spPr>
          <a:xfrm>
            <a:off x="548640" y="749808"/>
            <a:ext cx="10972800" cy="594360"/>
          </a:xfrm>
          <a:prstGeom prst="rect">
            <a:avLst/>
          </a:prstGeom>
          <a:noFill/>
          <a:ln/>
        </p:spPr>
        <p:txBody>
          <a:bodyPr wrap="square" rtlCol="0" anchor="ctr"/>
          <a:lstStyle/>
          <a:p>
            <a:pPr marL="0" indent="0">
              <a:buNone/>
            </a:pPr>
            <a:r>
              <a:rPr lang="en-US" sz="2700" b="1" dirty="0">
                <a:solidFill>
                  <a:srgbClr val="1A211F"/>
                </a:solidFill>
                <a:latin typeface="Cambria" pitchFamily="34" charset="0"/>
                <a:ea typeface="Cambria" pitchFamily="34" charset="-122"/>
                <a:cs typeface="Cambria" pitchFamily="34" charset="-120"/>
              </a:rPr>
              <a:t>Formula Breakdown: Synergy &amp; Population Modifiers</a:t>
            </a:r>
            <a:endParaRPr lang="en-US" sz="2700" dirty="0"/>
          </a:p>
        </p:txBody>
      </p:sp>
      <p:sp>
        <p:nvSpPr>
          <p:cNvPr id="4" name="Shape 2"/>
          <p:cNvSpPr/>
          <p:nvPr/>
        </p:nvSpPr>
        <p:spPr>
          <a:xfrm>
            <a:off x="548640" y="1645920"/>
            <a:ext cx="5349240" cy="2606040"/>
          </a:xfrm>
          <a:prstGeom prst="rect">
            <a:avLst/>
          </a:prstGeom>
          <a:solidFill>
            <a:srgbClr val="EEF2F0"/>
          </a:solidFill>
          <a:ln/>
        </p:spPr>
      </p:sp>
      <p:sp>
        <p:nvSpPr>
          <p:cNvPr id="5" name="Text 3"/>
          <p:cNvSpPr/>
          <p:nvPr/>
        </p:nvSpPr>
        <p:spPr>
          <a:xfrm>
            <a:off x="822960" y="1847088"/>
            <a:ext cx="4846320" cy="365760"/>
          </a:xfrm>
          <a:prstGeom prst="rect">
            <a:avLst/>
          </a:prstGeom>
          <a:noFill/>
          <a:ln/>
        </p:spPr>
        <p:txBody>
          <a:bodyPr wrap="square" rtlCol="0" anchor="ctr"/>
          <a:lstStyle/>
          <a:p>
            <a:pPr marL="0" indent="0">
              <a:buNone/>
            </a:pPr>
            <a:r>
              <a:rPr lang="en-US" sz="1150" b="1" kern="0" spc="100" dirty="0">
                <a:solidFill>
                  <a:srgbClr val="4E9C77"/>
                </a:solidFill>
                <a:latin typeface="Calibri" pitchFamily="34" charset="0"/>
                <a:ea typeface="Calibri" pitchFamily="34" charset="-122"/>
                <a:cs typeface="Calibri" pitchFamily="34" charset="-120"/>
              </a:rPr>
              <a:t>NOVELTY 2 — CANOPY-TEMPERATURE SYNERGY</a:t>
            </a:r>
            <a:endParaRPr lang="en-US" sz="1150" dirty="0"/>
          </a:p>
        </p:txBody>
      </p:sp>
      <p:sp>
        <p:nvSpPr>
          <p:cNvPr id="6" name="Text 4"/>
          <p:cNvSpPr/>
          <p:nvPr/>
        </p:nvSpPr>
        <p:spPr>
          <a:xfrm>
            <a:off x="822960" y="2212848"/>
            <a:ext cx="4846320" cy="384048"/>
          </a:xfrm>
          <a:prstGeom prst="rect">
            <a:avLst/>
          </a:prstGeom>
          <a:noFill/>
          <a:ln/>
        </p:spPr>
        <p:txBody>
          <a:bodyPr wrap="square" rtlCol="0" anchor="ctr"/>
          <a:lstStyle/>
          <a:p>
            <a:pPr marL="0" indent="0">
              <a:buNone/>
            </a:pPr>
            <a:r>
              <a:rPr lang="en-US" sz="1500" i="1" dirty="0">
                <a:solidFill>
                  <a:srgbClr val="1A211F"/>
                </a:solidFill>
                <a:latin typeface="Cambria" pitchFamily="34" charset="0"/>
                <a:ea typeface="Cambria" pitchFamily="34" charset="-122"/>
                <a:cs typeface="Cambria" pitchFamily="34" charset="-120"/>
              </a:rPr>
              <a:t>s(i) = α · N(NDVI_i) · N(Temp_i),   α = 0.1</a:t>
            </a:r>
            <a:endParaRPr lang="en-US" sz="1500" dirty="0"/>
          </a:p>
        </p:txBody>
      </p:sp>
      <p:sp>
        <p:nvSpPr>
          <p:cNvPr id="7" name="Text 5"/>
          <p:cNvSpPr/>
          <p:nvPr/>
        </p:nvSpPr>
        <p:spPr>
          <a:xfrm>
            <a:off x="822960" y="2697480"/>
            <a:ext cx="4892040" cy="1463040"/>
          </a:xfrm>
          <a:prstGeom prst="rect">
            <a:avLst/>
          </a:prstGeom>
          <a:noFill/>
          <a:ln/>
        </p:spPr>
        <p:txBody>
          <a:bodyPr wrap="square" rtlCol="0" anchor="ctr"/>
          <a:lstStyle/>
          <a:p>
            <a:pPr marL="177800" indent="-177800">
              <a:lnSpc>
                <a:spcPct val="125000"/>
              </a:lnSpc>
              <a:spcAft>
                <a:spcPts val="600"/>
              </a:spcAft>
              <a:buSzPct val="100000"/>
              <a:buChar char="•"/>
            </a:pPr>
            <a:r>
              <a:rPr lang="en-US" sz="1200" dirty="0">
                <a:solidFill>
                  <a:srgbClr val="5B6B66"/>
                </a:solidFill>
                <a:latin typeface="Calibri" pitchFamily="34" charset="0"/>
                <a:ea typeface="Calibri" pitchFamily="34" charset="-122"/>
                <a:cs typeface="Calibri" pitchFamily="34" charset="-120"/>
              </a:rPr>
              <a:t>Non-linear bonus for blocks with high canopy AND low temperature together.</a:t>
            </a:r>
            <a:endParaRPr lang="en-US" sz="1200" dirty="0"/>
          </a:p>
          <a:p>
            <a:pPr marL="177800" indent="-177800">
              <a:lnSpc>
                <a:spcPct val="125000"/>
              </a:lnSpc>
              <a:spcAft>
                <a:spcPts val="600"/>
              </a:spcAft>
              <a:buSzPct val="100000"/>
              <a:buChar char="•"/>
            </a:pPr>
            <a:r>
              <a:rPr lang="en-US" sz="1200" dirty="0">
                <a:solidFill>
                  <a:srgbClr val="5B6B66"/>
                </a:solidFill>
                <a:latin typeface="Calibri" pitchFamily="34" charset="0"/>
                <a:ea typeface="Calibri" pitchFamily="34" charset="-122"/>
                <a:cs typeface="Calibri" pitchFamily="34" charset="-120"/>
              </a:rPr>
              <a:t>Models the real, localized cooling effect of urban greening.</a:t>
            </a:r>
            <a:endParaRPr lang="en-US" sz="1200" dirty="0"/>
          </a:p>
          <a:p>
            <a:pPr marL="177800" indent="-177800">
              <a:lnSpc>
                <a:spcPct val="125000"/>
              </a:lnSpc>
              <a:spcAft>
                <a:spcPts val="600"/>
              </a:spcAft>
              <a:buSzPct val="100000"/>
              <a:buChar char="•"/>
            </a:pPr>
            <a:r>
              <a:rPr lang="en-US" sz="1200" dirty="0">
                <a:solidFill>
                  <a:srgbClr val="5B6B66"/>
                </a:solidFill>
                <a:latin typeface="Calibri" pitchFamily="34" charset="0"/>
                <a:ea typeface="Calibri" pitchFamily="34" charset="-122"/>
                <a:cs typeface="Calibri" pitchFamily="34" charset="-120"/>
              </a:rPr>
              <a:t>A plain additive sum misses this interaction entirely.</a:t>
            </a:r>
            <a:endParaRPr lang="en-US" sz="1200" dirty="0"/>
          </a:p>
        </p:txBody>
      </p:sp>
      <p:sp>
        <p:nvSpPr>
          <p:cNvPr id="8" name="Shape 6"/>
          <p:cNvSpPr/>
          <p:nvPr/>
        </p:nvSpPr>
        <p:spPr>
          <a:xfrm>
            <a:off x="6263640" y="1645920"/>
            <a:ext cx="5349240" cy="2606040"/>
          </a:xfrm>
          <a:prstGeom prst="rect">
            <a:avLst/>
          </a:prstGeom>
          <a:solidFill>
            <a:srgbClr val="EEF2F0"/>
          </a:solidFill>
          <a:ln/>
        </p:spPr>
      </p:sp>
      <p:sp>
        <p:nvSpPr>
          <p:cNvPr id="9" name="Text 7"/>
          <p:cNvSpPr/>
          <p:nvPr/>
        </p:nvSpPr>
        <p:spPr>
          <a:xfrm>
            <a:off x="6537960" y="1847088"/>
            <a:ext cx="4846320" cy="365760"/>
          </a:xfrm>
          <a:prstGeom prst="rect">
            <a:avLst/>
          </a:prstGeom>
          <a:noFill/>
          <a:ln/>
        </p:spPr>
        <p:txBody>
          <a:bodyPr wrap="square" rtlCol="0" anchor="ctr"/>
          <a:lstStyle/>
          <a:p>
            <a:pPr marL="0" indent="0">
              <a:buNone/>
            </a:pPr>
            <a:r>
              <a:rPr lang="en-US" sz="1150" b="1" kern="0" spc="100" dirty="0">
                <a:solidFill>
                  <a:srgbClr val="E8622C"/>
                </a:solidFill>
                <a:latin typeface="Calibri" pitchFamily="34" charset="0"/>
                <a:ea typeface="Calibri" pitchFamily="34" charset="-122"/>
                <a:cs typeface="Calibri" pitchFamily="34" charset="-120"/>
              </a:rPr>
              <a:t>NOVELTY 3 — POPULATION IMPACT MULTIPLIER</a:t>
            </a:r>
            <a:endParaRPr lang="en-US" sz="1150" dirty="0"/>
          </a:p>
        </p:txBody>
      </p:sp>
      <p:sp>
        <p:nvSpPr>
          <p:cNvPr id="10" name="Text 8"/>
          <p:cNvSpPr/>
          <p:nvPr/>
        </p:nvSpPr>
        <p:spPr>
          <a:xfrm>
            <a:off x="6537960" y="2212848"/>
            <a:ext cx="4846320" cy="384048"/>
          </a:xfrm>
          <a:prstGeom prst="rect">
            <a:avLst/>
          </a:prstGeom>
          <a:noFill/>
          <a:ln/>
        </p:spPr>
        <p:txBody>
          <a:bodyPr wrap="square" rtlCol="0" anchor="ctr"/>
          <a:lstStyle/>
          <a:p>
            <a:pPr marL="0" indent="0">
              <a:buNone/>
            </a:pPr>
            <a:r>
              <a:rPr lang="en-US" sz="1500" i="1" dirty="0">
                <a:solidFill>
                  <a:srgbClr val="1A211F"/>
                </a:solidFill>
                <a:latin typeface="Cambria" pitchFamily="34" charset="0"/>
                <a:ea typeface="Cambria" pitchFamily="34" charset="-122"/>
                <a:cs typeface="Cambria" pitchFamily="34" charset="-120"/>
              </a:rPr>
              <a:t>m(i) = 1 + β · N(Pop_i),   β = 0.3</a:t>
            </a:r>
            <a:endParaRPr lang="en-US" sz="1500" dirty="0"/>
          </a:p>
        </p:txBody>
      </p:sp>
      <p:sp>
        <p:nvSpPr>
          <p:cNvPr id="11" name="Text 9"/>
          <p:cNvSpPr/>
          <p:nvPr/>
        </p:nvSpPr>
        <p:spPr>
          <a:xfrm>
            <a:off x="6537960" y="2697480"/>
            <a:ext cx="4892040" cy="1463040"/>
          </a:xfrm>
          <a:prstGeom prst="rect">
            <a:avLst/>
          </a:prstGeom>
          <a:noFill/>
          <a:ln/>
        </p:spPr>
        <p:txBody>
          <a:bodyPr wrap="square" rtlCol="0" anchor="ctr"/>
          <a:lstStyle/>
          <a:p>
            <a:pPr marL="177800" indent="-177800">
              <a:lnSpc>
                <a:spcPct val="125000"/>
              </a:lnSpc>
              <a:spcAft>
                <a:spcPts val="600"/>
              </a:spcAft>
              <a:buSzPct val="100000"/>
              <a:buChar char="•"/>
            </a:pPr>
            <a:r>
              <a:rPr lang="en-US" sz="1200" dirty="0">
                <a:solidFill>
                  <a:srgbClr val="5B6B66"/>
                </a:solidFill>
                <a:latin typeface="Calibri" pitchFamily="34" charset="0"/>
                <a:ea typeface="Calibri" pitchFamily="34" charset="-122"/>
                <a:cs typeface="Calibri" pitchFamily="34" charset="-120"/>
              </a:rPr>
              <a:t>Environmental score is multiplied, not just added to, by population exposure.</a:t>
            </a:r>
            <a:endParaRPr lang="en-US" sz="1200" dirty="0"/>
          </a:p>
          <a:p>
            <a:pPr marL="177800" indent="-177800">
              <a:lnSpc>
                <a:spcPct val="125000"/>
              </a:lnSpc>
              <a:spcAft>
                <a:spcPts val="600"/>
              </a:spcAft>
              <a:buSzPct val="100000"/>
              <a:buChar char="•"/>
            </a:pPr>
            <a:r>
              <a:rPr lang="en-US" sz="1200" dirty="0">
                <a:solidFill>
                  <a:srgbClr val="5B6B66"/>
                </a:solidFill>
                <a:latin typeface="Calibri" pitchFamily="34" charset="0"/>
                <a:ea typeface="Calibri" pitchFamily="34" charset="-122"/>
                <a:cs typeface="Calibri" pitchFamily="34" charset="-120"/>
              </a:rPr>
              <a:t>A heat island is far more dangerous in a dense residential block than an empty plot.</a:t>
            </a:r>
            <a:endParaRPr lang="en-US" sz="1200" dirty="0"/>
          </a:p>
          <a:p>
            <a:pPr marL="177800" indent="-177800">
              <a:lnSpc>
                <a:spcPct val="125000"/>
              </a:lnSpc>
              <a:spcAft>
                <a:spcPts val="600"/>
              </a:spcAft>
              <a:buSzPct val="100000"/>
              <a:buChar char="•"/>
            </a:pPr>
            <a:r>
              <a:rPr lang="en-US" sz="1200" dirty="0">
                <a:solidFill>
                  <a:srgbClr val="5B6B66"/>
                </a:solidFill>
                <a:latin typeface="Calibri" pitchFamily="34" charset="0"/>
                <a:ea typeface="Calibri" pitchFamily="34" charset="-122"/>
                <a:cs typeface="Calibri" pitchFamily="34" charset="-120"/>
              </a:rPr>
              <a:t>Amplifies urgency exactly where it matters most.</a:t>
            </a:r>
            <a:endParaRPr lang="en-US" sz="1200" dirty="0"/>
          </a:p>
        </p:txBody>
      </p:sp>
      <p:sp>
        <p:nvSpPr>
          <p:cNvPr id="12" name="Shape 10"/>
          <p:cNvSpPr/>
          <p:nvPr/>
        </p:nvSpPr>
        <p:spPr>
          <a:xfrm>
            <a:off x="548640" y="4526280"/>
            <a:ext cx="11091672" cy="1417320"/>
          </a:xfrm>
          <a:prstGeom prst="rect">
            <a:avLst/>
          </a:prstGeom>
          <a:solidFill>
            <a:srgbClr val="1E4D3D"/>
          </a:solidFill>
          <a:ln/>
        </p:spPr>
      </p:sp>
      <p:sp>
        <p:nvSpPr>
          <p:cNvPr id="13" name="Text 11"/>
          <p:cNvSpPr/>
          <p:nvPr/>
        </p:nvSpPr>
        <p:spPr>
          <a:xfrm>
            <a:off x="868680" y="4690872"/>
            <a:ext cx="4572000" cy="274320"/>
          </a:xfrm>
          <a:prstGeom prst="rect">
            <a:avLst/>
          </a:prstGeom>
          <a:noFill/>
          <a:ln/>
        </p:spPr>
        <p:txBody>
          <a:bodyPr wrap="square" rtlCol="0" anchor="ctr"/>
          <a:lstStyle/>
          <a:p>
            <a:pPr marL="0" indent="0">
              <a:buNone/>
            </a:pPr>
            <a:r>
              <a:rPr lang="en-US" sz="1150" b="1" kern="0" spc="150" dirty="0">
                <a:solidFill>
                  <a:srgbClr val="8FC1A8"/>
                </a:solidFill>
                <a:latin typeface="Calibri" pitchFamily="34" charset="0"/>
                <a:ea typeface="Calibri" pitchFamily="34" charset="-122"/>
                <a:cs typeface="Calibri" pitchFamily="34" charset="-120"/>
              </a:rPr>
              <a:t>FINAL EQUATION</a:t>
            </a:r>
            <a:endParaRPr lang="en-US" sz="1150" dirty="0"/>
          </a:p>
        </p:txBody>
      </p:sp>
      <p:sp>
        <p:nvSpPr>
          <p:cNvPr id="14" name="Text 12"/>
          <p:cNvSpPr/>
          <p:nvPr/>
        </p:nvSpPr>
        <p:spPr>
          <a:xfrm>
            <a:off x="868680" y="4983480"/>
            <a:ext cx="10424160" cy="822960"/>
          </a:xfrm>
          <a:prstGeom prst="rect">
            <a:avLst/>
          </a:prstGeom>
          <a:noFill/>
          <a:ln/>
        </p:spPr>
        <p:txBody>
          <a:bodyPr wrap="square"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UEHI(i) = 100 × [ Weighted_Base_Score(i) + Synergy_Bonus(i) ] × Population_Multiplier(i)</a:t>
            </a:r>
            <a:endParaRPr lang="en-US" sz="1900" dirty="0"/>
          </a:p>
        </p:txBody>
      </p:sp>
      <p:sp>
        <p:nvSpPr>
          <p:cNvPr id="15" name="Text 13"/>
          <p:cNvSpPr/>
          <p:nvPr/>
        </p:nvSpPr>
        <p:spPr>
          <a:xfrm>
            <a:off x="11551615" y="6446520"/>
            <a:ext cx="457200" cy="274320"/>
          </a:xfrm>
          <a:prstGeom prst="rect">
            <a:avLst/>
          </a:prstGeom>
          <a:noFill/>
          <a:ln/>
        </p:spPr>
        <p:txBody>
          <a:bodyPr wrap="square" rtlCol="0" anchor="ctr"/>
          <a:lstStyle/>
          <a:p>
            <a:pPr marL="0" indent="0" algn="r">
              <a:buNone/>
            </a:pPr>
            <a:r>
              <a:rPr lang="en-US" sz="900" dirty="0">
                <a:solidFill>
                  <a:srgbClr val="5B6B66"/>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rtlCol="0" anchor="ctr"/>
          <a:lstStyle/>
          <a:p>
            <a:pPr marL="0" indent="0">
              <a:buNone/>
            </a:pPr>
            <a:r>
              <a:rPr lang="en-US" sz="1150" b="1" kern="0" spc="200" dirty="0">
                <a:solidFill>
                  <a:srgbClr val="E8622C"/>
                </a:solidFill>
                <a:latin typeface="Calibri" pitchFamily="34" charset="0"/>
                <a:ea typeface="Calibri" pitchFamily="34" charset="-122"/>
                <a:cs typeface="Calibri" pitchFamily="34" charset="-120"/>
              </a:rPr>
              <a:t>OUTPUT FROM RUN_SCORING.PY</a:t>
            </a:r>
            <a:endParaRPr lang="en-US" sz="1150" dirty="0"/>
          </a:p>
        </p:txBody>
      </p:sp>
      <p:sp>
        <p:nvSpPr>
          <p:cNvPr id="3" name="Text 1"/>
          <p:cNvSpPr/>
          <p:nvPr/>
        </p:nvSpPr>
        <p:spPr>
          <a:xfrm>
            <a:off x="548640" y="749808"/>
            <a:ext cx="10789920" cy="594360"/>
          </a:xfrm>
          <a:prstGeom prst="rect">
            <a:avLst/>
          </a:prstGeom>
          <a:noFill/>
          <a:ln/>
        </p:spPr>
        <p:txBody>
          <a:bodyPr wrap="square" rtlCol="0" anchor="ctr"/>
          <a:lstStyle/>
          <a:p>
            <a:pPr marL="0" indent="0">
              <a:buNone/>
            </a:pPr>
            <a:r>
              <a:rPr lang="en-US" sz="3000" b="1" dirty="0">
                <a:solidFill>
                  <a:srgbClr val="1A211F"/>
                </a:solidFill>
                <a:latin typeface="Cambria" pitchFamily="34" charset="0"/>
                <a:ea typeface="Cambria" pitchFamily="34" charset="-122"/>
                <a:cs typeface="Cambria" pitchFamily="34" charset="-120"/>
              </a:rPr>
              <a:t>Results: Kothrud Risk Classification</a:t>
            </a:r>
            <a:endParaRPr lang="en-US" sz="3000" dirty="0"/>
          </a:p>
        </p:txBody>
      </p:sp>
      <p:graphicFrame>
        <p:nvGraphicFramePr>
          <p:cNvPr id="4" name="Chart 0"/>
          <p:cNvGraphicFramePr/>
          <p:nvPr/>
        </p:nvGraphicFramePr>
        <p:xfrm>
          <a:off x="548640" y="1600200"/>
          <a:ext cx="6492240" cy="37947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315200" y="1600200"/>
            <a:ext cx="4325112" cy="3794760"/>
          </a:xfrm>
          <a:prstGeom prst="rect">
            <a:avLst/>
          </a:prstGeom>
          <a:solidFill>
            <a:srgbClr val="1E4D3D"/>
          </a:solidFill>
          <a:ln/>
        </p:spPr>
      </p:sp>
      <p:sp>
        <p:nvSpPr>
          <p:cNvPr id="6" name="Text 3"/>
          <p:cNvSpPr/>
          <p:nvPr/>
        </p:nvSpPr>
        <p:spPr>
          <a:xfrm>
            <a:off x="7635240" y="1810512"/>
            <a:ext cx="3657600" cy="274320"/>
          </a:xfrm>
          <a:prstGeom prst="rect">
            <a:avLst/>
          </a:prstGeom>
          <a:noFill/>
          <a:ln/>
        </p:spPr>
        <p:txBody>
          <a:bodyPr wrap="square" rtlCol="0" anchor="ctr"/>
          <a:lstStyle/>
          <a:p>
            <a:pPr marL="0" indent="0">
              <a:buNone/>
            </a:pPr>
            <a:r>
              <a:rPr lang="en-US" sz="1200" b="1" kern="0" spc="200" dirty="0">
                <a:solidFill>
                  <a:srgbClr val="8FC1A8"/>
                </a:solidFill>
                <a:latin typeface="Calibri" pitchFamily="34" charset="0"/>
                <a:ea typeface="Calibri" pitchFamily="34" charset="-122"/>
                <a:cs typeface="Calibri" pitchFamily="34" charset="-120"/>
              </a:rPr>
              <a:t>KEY NUMBERS</a:t>
            </a:r>
            <a:endParaRPr lang="en-US" sz="1200" dirty="0"/>
          </a:p>
        </p:txBody>
      </p:sp>
      <p:sp>
        <p:nvSpPr>
          <p:cNvPr id="7" name="Text 4"/>
          <p:cNvSpPr/>
          <p:nvPr/>
        </p:nvSpPr>
        <p:spPr>
          <a:xfrm>
            <a:off x="7635240" y="2212848"/>
            <a:ext cx="3749040" cy="45720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256</a:t>
            </a:r>
            <a:endParaRPr lang="en-US" sz="2400" dirty="0"/>
          </a:p>
        </p:txBody>
      </p:sp>
      <p:sp>
        <p:nvSpPr>
          <p:cNvPr id="8" name="Text 5"/>
          <p:cNvSpPr/>
          <p:nvPr/>
        </p:nvSpPr>
        <p:spPr>
          <a:xfrm>
            <a:off x="7635240" y="2670048"/>
            <a:ext cx="3749040" cy="502920"/>
          </a:xfrm>
          <a:prstGeom prst="rect">
            <a:avLst/>
          </a:prstGeom>
          <a:noFill/>
          <a:ln/>
        </p:spPr>
        <p:txBody>
          <a:bodyPr wrap="square" rtlCol="0" anchor="ctr"/>
          <a:lstStyle/>
          <a:p>
            <a:pPr marL="0" indent="0">
              <a:lnSpc>
                <a:spcPct val="115000"/>
              </a:lnSpc>
              <a:buNone/>
            </a:pPr>
            <a:r>
              <a:rPr lang="en-US" sz="1080" dirty="0">
                <a:solidFill>
                  <a:srgbClr val="C7D3CF"/>
                </a:solidFill>
                <a:latin typeface="Calibri" pitchFamily="34" charset="0"/>
                <a:ea typeface="Calibri" pitchFamily="34" charset="-122"/>
                <a:cs typeface="Calibri" pitchFamily="34" charset="-120"/>
              </a:rPr>
              <a:t>valid blocks scored, of 272 initially (after filtering incomplete edge blocks)</a:t>
            </a:r>
            <a:endParaRPr lang="en-US" sz="1080" dirty="0"/>
          </a:p>
        </p:txBody>
      </p:sp>
      <p:sp>
        <p:nvSpPr>
          <p:cNvPr id="9" name="Text 6"/>
          <p:cNvSpPr/>
          <p:nvPr/>
        </p:nvSpPr>
        <p:spPr>
          <a:xfrm>
            <a:off x="7635240" y="3291840"/>
            <a:ext cx="3749040" cy="45720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7.4 – 86.4</a:t>
            </a:r>
            <a:endParaRPr lang="en-US" sz="2400" dirty="0"/>
          </a:p>
        </p:txBody>
      </p:sp>
      <p:sp>
        <p:nvSpPr>
          <p:cNvPr id="10" name="Text 7"/>
          <p:cNvSpPr/>
          <p:nvPr/>
        </p:nvSpPr>
        <p:spPr>
          <a:xfrm>
            <a:off x="7635240" y="3749040"/>
            <a:ext cx="3749040" cy="502920"/>
          </a:xfrm>
          <a:prstGeom prst="rect">
            <a:avLst/>
          </a:prstGeom>
          <a:noFill/>
          <a:ln/>
        </p:spPr>
        <p:txBody>
          <a:bodyPr wrap="square" rtlCol="0" anchor="ctr"/>
          <a:lstStyle/>
          <a:p>
            <a:pPr marL="0" indent="0">
              <a:lnSpc>
                <a:spcPct val="115000"/>
              </a:lnSpc>
              <a:buNone/>
            </a:pPr>
            <a:r>
              <a:rPr lang="en-US" sz="1080" dirty="0">
                <a:solidFill>
                  <a:srgbClr val="C7D3CF"/>
                </a:solidFill>
                <a:latin typeface="Calibri" pitchFamily="34" charset="0"/>
                <a:ea typeface="Calibri" pitchFamily="34" charset="-122"/>
                <a:cs typeface="Calibri" pitchFamily="34" charset="-120"/>
              </a:rPr>
              <a:t>UEHI score range, out of 100</a:t>
            </a:r>
            <a:endParaRPr lang="en-US" sz="1080" dirty="0"/>
          </a:p>
        </p:txBody>
      </p:sp>
      <p:sp>
        <p:nvSpPr>
          <p:cNvPr id="11" name="Text 8"/>
          <p:cNvSpPr/>
          <p:nvPr/>
        </p:nvSpPr>
        <p:spPr>
          <a:xfrm>
            <a:off x="7635240" y="4370832"/>
            <a:ext cx="3749040" cy="45720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0.59</a:t>
            </a:r>
            <a:endParaRPr lang="en-US" sz="2400" dirty="0"/>
          </a:p>
        </p:txBody>
      </p:sp>
      <p:sp>
        <p:nvSpPr>
          <p:cNvPr id="12" name="Text 9"/>
          <p:cNvSpPr/>
          <p:nvPr/>
        </p:nvSpPr>
        <p:spPr>
          <a:xfrm>
            <a:off x="7635240" y="4828032"/>
            <a:ext cx="3749040" cy="502920"/>
          </a:xfrm>
          <a:prstGeom prst="rect">
            <a:avLst/>
          </a:prstGeom>
          <a:noFill/>
          <a:ln/>
        </p:spPr>
        <p:txBody>
          <a:bodyPr wrap="square" rtlCol="0" anchor="ctr"/>
          <a:lstStyle/>
          <a:p>
            <a:pPr marL="0" indent="0">
              <a:lnSpc>
                <a:spcPct val="115000"/>
              </a:lnSpc>
              <a:buNone/>
            </a:pPr>
            <a:r>
              <a:rPr lang="en-US" sz="1080" dirty="0">
                <a:solidFill>
                  <a:srgbClr val="C7D3CF"/>
                </a:solidFill>
                <a:latin typeface="Calibri" pitchFamily="34" charset="0"/>
                <a:ea typeface="Calibri" pitchFamily="34" charset="-122"/>
                <a:cs typeface="Calibri" pitchFamily="34" charset="-120"/>
              </a:rPr>
              <a:t>canopy-to-score correlation — confirms the formula responds correctly to real vegetation data</a:t>
            </a:r>
            <a:endParaRPr lang="en-US" sz="1080" dirty="0"/>
          </a:p>
        </p:txBody>
      </p:sp>
      <p:sp>
        <p:nvSpPr>
          <p:cNvPr id="13" name="Shape 10"/>
          <p:cNvSpPr/>
          <p:nvPr/>
        </p:nvSpPr>
        <p:spPr>
          <a:xfrm>
            <a:off x="548640" y="5623560"/>
            <a:ext cx="11091672" cy="777240"/>
          </a:xfrm>
          <a:prstGeom prst="rect">
            <a:avLst/>
          </a:prstGeom>
          <a:solidFill>
            <a:srgbClr val="EEF2F0"/>
          </a:solidFill>
          <a:ln/>
        </p:spPr>
      </p:sp>
      <p:sp>
        <p:nvSpPr>
          <p:cNvPr id="14" name="Text 11"/>
          <p:cNvSpPr/>
          <p:nvPr/>
        </p:nvSpPr>
        <p:spPr>
          <a:xfrm>
            <a:off x="868680" y="5623560"/>
            <a:ext cx="10515600" cy="777240"/>
          </a:xfrm>
          <a:prstGeom prst="rect">
            <a:avLst/>
          </a:prstGeom>
          <a:noFill/>
          <a:ln/>
        </p:spPr>
        <p:txBody>
          <a:bodyPr wrap="square" rtlCol="0" anchor="ctr"/>
          <a:lstStyle/>
          <a:p>
            <a:pPr marL="0" indent="0">
              <a:buNone/>
            </a:pPr>
            <a:r>
              <a:rPr lang="en-US" sz="1200" i="1" dirty="0">
                <a:solidFill>
                  <a:srgbClr val="5B6B66"/>
                </a:solidFill>
                <a:latin typeface="Calibri" pitchFamily="34" charset="0"/>
                <a:ea typeface="Calibri" pitchFamily="34" charset="-122"/>
                <a:cs typeface="Calibri" pitchFamily="34" charset="-120"/>
              </a:rPr>
              <a:t>Edge-block filtering fix improved formula reliability: correlation rose from 0.53 to 0.59 after removing incomplete boundary cells with defaulted placeholder values.</a:t>
            </a:r>
            <a:endParaRPr lang="en-US" sz="1200" dirty="0"/>
          </a:p>
        </p:txBody>
      </p:sp>
      <p:sp>
        <p:nvSpPr>
          <p:cNvPr id="15" name="Text 12"/>
          <p:cNvSpPr/>
          <p:nvPr/>
        </p:nvSpPr>
        <p:spPr>
          <a:xfrm>
            <a:off x="11551615" y="6446520"/>
            <a:ext cx="457200" cy="274320"/>
          </a:xfrm>
          <a:prstGeom prst="rect">
            <a:avLst/>
          </a:prstGeom>
          <a:noFill/>
          <a:ln/>
        </p:spPr>
        <p:txBody>
          <a:bodyPr wrap="square" rtlCol="0" anchor="ctr"/>
          <a:lstStyle/>
          <a:p>
            <a:pPr marL="0" indent="0" algn="r">
              <a:buNone/>
            </a:pPr>
            <a:r>
              <a:rPr lang="en-US" sz="900" dirty="0">
                <a:solidFill>
                  <a:srgbClr val="5B6B6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rtlCol="0" anchor="ctr"/>
          <a:lstStyle/>
          <a:p>
            <a:pPr marL="0" indent="0">
              <a:buNone/>
            </a:pPr>
            <a:r>
              <a:rPr lang="en-US" sz="1150" b="1" kern="0" spc="200" dirty="0">
                <a:solidFill>
                  <a:srgbClr val="E8622C"/>
                </a:solidFill>
                <a:latin typeface="Calibri" pitchFamily="34" charset="0"/>
                <a:ea typeface="Calibri" pitchFamily="34" charset="-122"/>
                <a:cs typeface="Calibri" pitchFamily="34" charset="-120"/>
              </a:rPr>
              <a:t>PRESENTING REAL RESULTS TO OUR NGO MENTOR</a:t>
            </a:r>
            <a:endParaRPr lang="en-US" sz="1150" dirty="0"/>
          </a:p>
        </p:txBody>
      </p:sp>
      <p:sp>
        <p:nvSpPr>
          <p:cNvPr id="3" name="Text 1"/>
          <p:cNvSpPr/>
          <p:nvPr/>
        </p:nvSpPr>
        <p:spPr>
          <a:xfrm>
            <a:off x="548640" y="749808"/>
            <a:ext cx="10789920" cy="594360"/>
          </a:xfrm>
          <a:prstGeom prst="rect">
            <a:avLst/>
          </a:prstGeom>
          <a:noFill/>
          <a:ln/>
        </p:spPr>
        <p:txBody>
          <a:bodyPr wrap="square" rtlCol="0" anchor="ctr"/>
          <a:lstStyle/>
          <a:p>
            <a:pPr marL="0" indent="0">
              <a:buNone/>
            </a:pPr>
            <a:r>
              <a:rPr lang="en-US" sz="2700" b="1" dirty="0">
                <a:solidFill>
                  <a:srgbClr val="1A211F"/>
                </a:solidFill>
                <a:latin typeface="Cambria" pitchFamily="34" charset="0"/>
                <a:ea typeface="Cambria" pitchFamily="34" charset="-122"/>
                <a:cs typeface="Cambria" pitchFamily="34" charset="-120"/>
              </a:rPr>
              <a:t>SEER Bharat Foundation — In-Person Engagement</a:t>
            </a:r>
            <a:endParaRPr lang="en-US" sz="2700" dirty="0"/>
          </a:p>
        </p:txBody>
      </p:sp>
      <p:pic>
        <p:nvPicPr>
          <p:cNvPr id="4" name="Image 0" descr="assets/ngo_visit_group.jpeg"/>
          <p:cNvPicPr>
            <a:picLocks noChangeAspect="1"/>
          </p:cNvPicPr>
          <p:nvPr/>
        </p:nvPicPr>
        <p:blipFill>
          <a:blip r:embed="rId3"/>
          <a:srcRect/>
          <a:stretch/>
        </p:blipFill>
        <p:spPr>
          <a:xfrm>
            <a:off x="548640" y="1645920"/>
            <a:ext cx="4160520" cy="3246120"/>
          </a:xfrm>
          <a:prstGeom prst="rect">
            <a:avLst/>
          </a:prstGeom>
        </p:spPr>
      </p:pic>
      <p:pic>
        <p:nvPicPr>
          <p:cNvPr id="5" name="Image 1" descr="assets/weekly_meet.jpeg"/>
          <p:cNvPicPr>
            <a:picLocks noChangeAspect="1"/>
          </p:cNvPicPr>
          <p:nvPr/>
        </p:nvPicPr>
        <p:blipFill>
          <a:blip r:embed="rId4"/>
          <a:srcRect/>
          <a:stretch/>
        </p:blipFill>
        <p:spPr>
          <a:xfrm>
            <a:off x="4846320" y="1645920"/>
            <a:ext cx="4160520" cy="3246120"/>
          </a:xfrm>
          <a:prstGeom prst="rect">
            <a:avLst/>
          </a:prstGeom>
        </p:spPr>
      </p:pic>
      <p:sp>
        <p:nvSpPr>
          <p:cNvPr id="6" name="Shape 2"/>
          <p:cNvSpPr/>
          <p:nvPr/>
        </p:nvSpPr>
        <p:spPr>
          <a:xfrm>
            <a:off x="548640" y="1645920"/>
            <a:ext cx="4160520" cy="3246120"/>
          </a:xfrm>
          <a:prstGeom prst="rect">
            <a:avLst/>
          </a:prstGeom>
          <a:ln w="12700">
            <a:solidFill>
              <a:srgbClr val="DCE3E0"/>
            </a:solidFill>
            <a:prstDash val="solid"/>
          </a:ln>
        </p:spPr>
      </p:sp>
      <p:sp>
        <p:nvSpPr>
          <p:cNvPr id="7" name="Shape 3"/>
          <p:cNvSpPr/>
          <p:nvPr/>
        </p:nvSpPr>
        <p:spPr>
          <a:xfrm>
            <a:off x="4846320" y="1645920"/>
            <a:ext cx="4160520" cy="3246120"/>
          </a:xfrm>
          <a:prstGeom prst="rect">
            <a:avLst/>
          </a:prstGeom>
          <a:ln w="12700">
            <a:solidFill>
              <a:srgbClr val="DCE3E0"/>
            </a:solidFill>
            <a:prstDash val="solid"/>
          </a:ln>
        </p:spPr>
      </p:sp>
      <p:sp>
        <p:nvSpPr>
          <p:cNvPr id="8" name="Text 4"/>
          <p:cNvSpPr/>
          <p:nvPr/>
        </p:nvSpPr>
        <p:spPr>
          <a:xfrm>
            <a:off x="548640" y="4956048"/>
            <a:ext cx="4160520" cy="274320"/>
          </a:xfrm>
          <a:prstGeom prst="rect">
            <a:avLst/>
          </a:prstGeom>
          <a:noFill/>
          <a:ln/>
        </p:spPr>
        <p:txBody>
          <a:bodyPr wrap="square" rtlCol="0" anchor="ctr"/>
          <a:lstStyle/>
          <a:p>
            <a:pPr marL="0" indent="0" algn="ctr">
              <a:buNone/>
            </a:pPr>
            <a:r>
              <a:rPr lang="en-US" sz="1050" i="1" dirty="0">
                <a:solidFill>
                  <a:srgbClr val="5B6B66"/>
                </a:solidFill>
                <a:latin typeface="Calibri" pitchFamily="34" charset="0"/>
                <a:ea typeface="Calibri" pitchFamily="34" charset="-122"/>
                <a:cs typeface="Calibri" pitchFamily="34" charset="-120"/>
              </a:rPr>
              <a:t>On-site visit — Pimpri Chinchwad</a:t>
            </a:r>
            <a:endParaRPr lang="en-US" sz="1050" dirty="0"/>
          </a:p>
        </p:txBody>
      </p:sp>
      <p:sp>
        <p:nvSpPr>
          <p:cNvPr id="9" name="Text 5"/>
          <p:cNvSpPr/>
          <p:nvPr/>
        </p:nvSpPr>
        <p:spPr>
          <a:xfrm>
            <a:off x="4846320" y="4956048"/>
            <a:ext cx="4160520" cy="274320"/>
          </a:xfrm>
          <a:prstGeom prst="rect">
            <a:avLst/>
          </a:prstGeom>
          <a:noFill/>
          <a:ln/>
        </p:spPr>
        <p:txBody>
          <a:bodyPr wrap="square" rtlCol="0" anchor="ctr"/>
          <a:lstStyle/>
          <a:p>
            <a:pPr marL="0" indent="0" algn="ctr">
              <a:buNone/>
            </a:pPr>
            <a:r>
              <a:rPr lang="en-US" sz="1050" i="1" dirty="0">
                <a:solidFill>
                  <a:srgbClr val="5B6B66"/>
                </a:solidFill>
                <a:latin typeface="Calibri" pitchFamily="34" charset="0"/>
                <a:ea typeface="Calibri" pitchFamily="34" charset="-122"/>
                <a:cs typeface="Calibri" pitchFamily="34" charset="-120"/>
              </a:rPr>
              <a:t>Weekly team sync with SEER Bharat</a:t>
            </a:r>
            <a:endParaRPr lang="en-US" sz="1050" dirty="0"/>
          </a:p>
        </p:txBody>
      </p:sp>
      <p:sp>
        <p:nvSpPr>
          <p:cNvPr id="10" name="Shape 6"/>
          <p:cNvSpPr/>
          <p:nvPr/>
        </p:nvSpPr>
        <p:spPr>
          <a:xfrm>
            <a:off x="9235440" y="1645920"/>
            <a:ext cx="2404872" cy="3383280"/>
          </a:xfrm>
          <a:prstGeom prst="rect">
            <a:avLst/>
          </a:prstGeom>
          <a:solidFill>
            <a:srgbClr val="1E4D3D"/>
          </a:solidFill>
          <a:ln/>
        </p:spPr>
      </p:sp>
      <p:sp>
        <p:nvSpPr>
          <p:cNvPr id="11" name="Text 7"/>
          <p:cNvSpPr/>
          <p:nvPr/>
        </p:nvSpPr>
        <p:spPr>
          <a:xfrm>
            <a:off x="9454896" y="1805940"/>
            <a:ext cx="1965960" cy="3063240"/>
          </a:xfrm>
          <a:prstGeom prst="rect">
            <a:avLst/>
          </a:prstGeom>
          <a:noFill/>
          <a:ln/>
        </p:spPr>
        <p:txBody>
          <a:bodyPr wrap="square" rtlCol="0" anchor="ctr"/>
          <a:lstStyle/>
          <a:p>
            <a:pPr marL="152400" indent="-152400">
              <a:lnSpc>
                <a:spcPct val="128000"/>
              </a:lnSpc>
              <a:spcAft>
                <a:spcPts val="800"/>
              </a:spcAft>
              <a:buSzPct val="100000"/>
              <a:buChar char="•"/>
            </a:pPr>
            <a:r>
              <a:rPr lang="en-US" sz="1030" dirty="0">
                <a:solidFill>
                  <a:srgbClr val="DCE6E2"/>
                </a:solidFill>
                <a:latin typeface="Calibri" pitchFamily="34" charset="0"/>
                <a:ea typeface="Calibri" pitchFamily="34" charset="-122"/>
                <a:cs typeface="Calibri" pitchFamily="34" charset="-120"/>
              </a:rPr>
              <a:t>Visited SEER Bharat's office to present the full working pipeline.</a:t>
            </a:r>
            <a:endParaRPr lang="en-US" sz="1030" dirty="0"/>
          </a:p>
          <a:p>
            <a:pPr marL="152400" indent="-152400">
              <a:lnSpc>
                <a:spcPct val="128000"/>
              </a:lnSpc>
              <a:spcAft>
                <a:spcPts val="800"/>
              </a:spcAft>
              <a:buSzPct val="100000"/>
              <a:buChar char="•"/>
            </a:pPr>
            <a:r>
              <a:rPr lang="en-US" sz="1030" dirty="0">
                <a:solidFill>
                  <a:srgbClr val="DCE6E2"/>
                </a:solidFill>
                <a:latin typeface="Calibri" pitchFamily="34" charset="0"/>
                <a:ea typeface="Calibri" pitchFamily="34" charset="-122"/>
                <a:cs typeface="Calibri" pitchFamily="34" charset="-120"/>
              </a:rPr>
              <a:t>Walked through Kothrud composite, NDVI segmentation, and final scores.</a:t>
            </a:r>
            <a:endParaRPr lang="en-US" sz="1030" dirty="0"/>
          </a:p>
          <a:p>
            <a:pPr marL="152400" indent="-152400">
              <a:lnSpc>
                <a:spcPct val="128000"/>
              </a:lnSpc>
              <a:spcAft>
                <a:spcPts val="800"/>
              </a:spcAft>
              <a:buSzPct val="100000"/>
              <a:buChar char="•"/>
            </a:pPr>
            <a:r>
              <a:rPr lang="en-US" sz="1030" dirty="0">
                <a:solidFill>
                  <a:srgbClr val="DCE6E2"/>
                </a:solidFill>
                <a:latin typeface="Calibri" pitchFamily="34" charset="0"/>
                <a:ea typeface="Calibri" pitchFamily="34" charset="-122"/>
                <a:cs typeface="Calibri" pitchFamily="34" charset="-120"/>
              </a:rPr>
              <a:t>Explained the entropy-weighted UEHI formula and its novelty in person.</a:t>
            </a:r>
            <a:endParaRPr lang="en-US" sz="1030" dirty="0"/>
          </a:p>
          <a:p>
            <a:pPr marL="152400" indent="-152400">
              <a:lnSpc>
                <a:spcPct val="128000"/>
              </a:lnSpc>
              <a:spcAft>
                <a:spcPts val="800"/>
              </a:spcAft>
              <a:buSzPct val="100000"/>
              <a:buChar char="•"/>
            </a:pPr>
            <a:r>
              <a:rPr lang="en-US" sz="1030" dirty="0">
                <a:solidFill>
                  <a:srgbClr val="DCE6E2"/>
                </a:solidFill>
                <a:latin typeface="Calibri" pitchFamily="34" charset="0"/>
                <a:ea typeface="Calibri" pitchFamily="34" charset="-122"/>
                <a:cs typeface="Calibri" pitchFamily="34" charset="-120"/>
              </a:rPr>
              <a:t>All four members met weekly blockers like the U-Net random-weight issue were caught early.</a:t>
            </a:r>
            <a:endParaRPr lang="en-US" sz="1030" dirty="0"/>
          </a:p>
        </p:txBody>
      </p:sp>
      <p:sp>
        <p:nvSpPr>
          <p:cNvPr id="12" name="Shape 8"/>
          <p:cNvSpPr/>
          <p:nvPr/>
        </p:nvSpPr>
        <p:spPr>
          <a:xfrm>
            <a:off x="548640" y="5394960"/>
            <a:ext cx="11091672" cy="868680"/>
          </a:xfrm>
          <a:prstGeom prst="rect">
            <a:avLst/>
          </a:prstGeom>
          <a:solidFill>
            <a:srgbClr val="EEF2F0"/>
          </a:solidFill>
          <a:ln/>
        </p:spPr>
      </p:sp>
      <p:sp>
        <p:nvSpPr>
          <p:cNvPr id="13" name="Text 9"/>
          <p:cNvSpPr/>
          <p:nvPr/>
        </p:nvSpPr>
        <p:spPr>
          <a:xfrm>
            <a:off x="868680" y="5394960"/>
            <a:ext cx="10424160" cy="868680"/>
          </a:xfrm>
          <a:prstGeom prst="rect">
            <a:avLst/>
          </a:prstGeom>
          <a:noFill/>
          <a:ln/>
        </p:spPr>
        <p:txBody>
          <a:bodyPr wrap="square" rtlCol="0" anchor="ctr"/>
          <a:lstStyle/>
          <a:p>
            <a:pPr algn="ctr"/>
            <a:r>
              <a:rPr lang="en-IN" sz="1200" dirty="0">
                <a:latin typeface="Calibri  "/>
              </a:rPr>
              <a:t>Collaborated closely with the SEER Bharat mentor, incorporated feedback, and refined the project pipeline for future ward expansion.</a:t>
            </a:r>
            <a:endParaRPr lang="en-US" sz="1200" dirty="0">
              <a:latin typeface="Calibri  "/>
            </a:endParaRPr>
          </a:p>
        </p:txBody>
      </p:sp>
      <p:sp>
        <p:nvSpPr>
          <p:cNvPr id="14" name="Text 10"/>
          <p:cNvSpPr/>
          <p:nvPr/>
        </p:nvSpPr>
        <p:spPr>
          <a:xfrm>
            <a:off x="11551615" y="6446520"/>
            <a:ext cx="457200" cy="274320"/>
          </a:xfrm>
          <a:prstGeom prst="rect">
            <a:avLst/>
          </a:prstGeom>
          <a:noFill/>
          <a:ln/>
        </p:spPr>
        <p:txBody>
          <a:bodyPr wrap="square" rtlCol="0" anchor="ctr"/>
          <a:lstStyle/>
          <a:p>
            <a:pPr marL="0" indent="0" algn="r">
              <a:buNone/>
            </a:pPr>
            <a:r>
              <a:rPr lang="en-US" sz="900" dirty="0">
                <a:solidFill>
                  <a:srgbClr val="5B6B6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4D3D"/>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rtlCol="0" anchor="ctr"/>
          <a:lstStyle/>
          <a:p>
            <a:pPr marL="0" indent="0">
              <a:buNone/>
            </a:pPr>
            <a:r>
              <a:rPr lang="en-US" sz="1150" b="1" kern="0" spc="200" dirty="0">
                <a:solidFill>
                  <a:srgbClr val="8FC1A8"/>
                </a:solidFill>
                <a:latin typeface="Calibri" pitchFamily="34" charset="0"/>
                <a:ea typeface="Calibri" pitchFamily="34" charset="-122"/>
                <a:cs typeface="Calibri" pitchFamily="34" charset="-120"/>
              </a:rPr>
              <a:t>CONTINUING / SUSTAINED WORK</a:t>
            </a:r>
            <a:endParaRPr lang="en-US" sz="1150" dirty="0"/>
          </a:p>
        </p:txBody>
      </p:sp>
      <p:sp>
        <p:nvSpPr>
          <p:cNvPr id="3" name="Text 1"/>
          <p:cNvSpPr/>
          <p:nvPr/>
        </p:nvSpPr>
        <p:spPr>
          <a:xfrm>
            <a:off x="548640" y="749808"/>
            <a:ext cx="10789920" cy="594360"/>
          </a:xfrm>
          <a:prstGeom prst="rect">
            <a:avLst/>
          </a:prstGeom>
          <a:noFill/>
          <a:ln/>
        </p:spPr>
        <p:txBody>
          <a:bodyPr wrap="square" rtlCol="0" anchor="ctr"/>
          <a:lstStyle/>
          <a:p>
            <a:pPr marL="0" indent="0">
              <a:buNone/>
            </a:pPr>
            <a:r>
              <a:rPr lang="en-US" sz="2900" b="1" dirty="0">
                <a:solidFill>
                  <a:srgbClr val="FFFFFF"/>
                </a:solidFill>
                <a:latin typeface="Cambria" pitchFamily="34" charset="0"/>
                <a:ea typeface="Cambria" pitchFamily="34" charset="-122"/>
                <a:cs typeface="Cambria" pitchFamily="34" charset="-120"/>
              </a:rPr>
              <a:t>Team Responsibilities &amp; Next Phase</a:t>
            </a:r>
            <a:endParaRPr lang="en-US" sz="2900" dirty="0"/>
          </a:p>
        </p:txBody>
      </p:sp>
      <p:sp>
        <p:nvSpPr>
          <p:cNvPr id="4" name="Shape 2"/>
          <p:cNvSpPr/>
          <p:nvPr/>
        </p:nvSpPr>
        <p:spPr>
          <a:xfrm>
            <a:off x="548640" y="1691640"/>
            <a:ext cx="2651760" cy="2103120"/>
          </a:xfrm>
          <a:prstGeom prst="rect">
            <a:avLst/>
          </a:prstGeom>
          <a:solidFill>
            <a:srgbClr val="2A5F4C"/>
          </a:solidFill>
          <a:ln/>
        </p:spPr>
      </p:sp>
      <p:sp>
        <p:nvSpPr>
          <p:cNvPr id="5" name="Text 3"/>
          <p:cNvSpPr/>
          <p:nvPr/>
        </p:nvSpPr>
        <p:spPr>
          <a:xfrm>
            <a:off x="731520" y="1874520"/>
            <a:ext cx="2286000" cy="32004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Aditya Sengar</a:t>
            </a:r>
            <a:endParaRPr lang="en-US" sz="1350" dirty="0"/>
          </a:p>
        </p:txBody>
      </p:sp>
      <p:sp>
        <p:nvSpPr>
          <p:cNvPr id="6" name="Text 4"/>
          <p:cNvSpPr/>
          <p:nvPr/>
        </p:nvSpPr>
        <p:spPr>
          <a:xfrm>
            <a:off x="731520" y="2221992"/>
            <a:ext cx="2286000" cy="502920"/>
          </a:xfrm>
          <a:prstGeom prst="rect">
            <a:avLst/>
          </a:prstGeom>
          <a:noFill/>
          <a:ln/>
        </p:spPr>
        <p:txBody>
          <a:bodyPr wrap="square" rtlCol="0" anchor="ctr"/>
          <a:lstStyle/>
          <a:p>
            <a:pPr marL="0" indent="0">
              <a:lnSpc>
                <a:spcPct val="110000"/>
              </a:lnSpc>
              <a:buNone/>
            </a:pPr>
            <a:r>
              <a:rPr lang="en-US" sz="1100" b="1" dirty="0">
                <a:solidFill>
                  <a:srgbClr val="8FC1A8"/>
                </a:solidFill>
                <a:latin typeface="Calibri" pitchFamily="34" charset="0"/>
                <a:ea typeface="Calibri" pitchFamily="34" charset="-122"/>
                <a:cs typeface="Calibri" pitchFamily="34" charset="-120"/>
              </a:rPr>
              <a:t>Data Engineering &amp; Infrastructure</a:t>
            </a:r>
            <a:endParaRPr lang="en-US" sz="1100" dirty="0"/>
          </a:p>
        </p:txBody>
      </p:sp>
      <p:sp>
        <p:nvSpPr>
          <p:cNvPr id="7" name="Text 5"/>
          <p:cNvSpPr/>
          <p:nvPr/>
        </p:nvSpPr>
        <p:spPr>
          <a:xfrm>
            <a:off x="731520" y="2788920"/>
            <a:ext cx="2286000" cy="914400"/>
          </a:xfrm>
          <a:prstGeom prst="rect">
            <a:avLst/>
          </a:prstGeom>
          <a:noFill/>
          <a:ln/>
        </p:spPr>
        <p:txBody>
          <a:bodyPr wrap="square" rtlCol="0" anchor="ctr"/>
          <a:lstStyle/>
          <a:p>
            <a:pPr marL="0" indent="0">
              <a:lnSpc>
                <a:spcPct val="120000"/>
              </a:lnSpc>
              <a:buNone/>
            </a:pPr>
            <a:r>
              <a:rPr lang="en-US" sz="1030" dirty="0">
                <a:solidFill>
                  <a:srgbClr val="C7D3CF"/>
                </a:solidFill>
                <a:latin typeface="Calibri" pitchFamily="34" charset="0"/>
                <a:ea typeface="Calibri" pitchFamily="34" charset="-122"/>
                <a:cs typeface="Calibri" pitchFamily="34" charset="-120"/>
              </a:rPr>
              <a:t>Earth Engine setup, ingestion pipeline, GeoTIFF export.</a:t>
            </a:r>
            <a:endParaRPr lang="en-US" sz="1030" dirty="0"/>
          </a:p>
        </p:txBody>
      </p:sp>
      <p:sp>
        <p:nvSpPr>
          <p:cNvPr id="8" name="Shape 6"/>
          <p:cNvSpPr/>
          <p:nvPr/>
        </p:nvSpPr>
        <p:spPr>
          <a:xfrm>
            <a:off x="3419856" y="1691640"/>
            <a:ext cx="2651760" cy="2103120"/>
          </a:xfrm>
          <a:prstGeom prst="rect">
            <a:avLst/>
          </a:prstGeom>
          <a:solidFill>
            <a:srgbClr val="2A5F4C"/>
          </a:solidFill>
          <a:ln/>
        </p:spPr>
      </p:sp>
      <p:sp>
        <p:nvSpPr>
          <p:cNvPr id="9" name="Text 7"/>
          <p:cNvSpPr/>
          <p:nvPr/>
        </p:nvSpPr>
        <p:spPr>
          <a:xfrm>
            <a:off x="3602736" y="1874520"/>
            <a:ext cx="2286000" cy="32004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Aditya Godar</a:t>
            </a:r>
            <a:endParaRPr lang="en-US" sz="1350" dirty="0"/>
          </a:p>
        </p:txBody>
      </p:sp>
      <p:sp>
        <p:nvSpPr>
          <p:cNvPr id="10" name="Text 8"/>
          <p:cNvSpPr/>
          <p:nvPr/>
        </p:nvSpPr>
        <p:spPr>
          <a:xfrm>
            <a:off x="3602736" y="2221992"/>
            <a:ext cx="2286000" cy="502920"/>
          </a:xfrm>
          <a:prstGeom prst="rect">
            <a:avLst/>
          </a:prstGeom>
          <a:noFill/>
          <a:ln/>
        </p:spPr>
        <p:txBody>
          <a:bodyPr wrap="square" rtlCol="0" anchor="ctr"/>
          <a:lstStyle/>
          <a:p>
            <a:pPr marL="0" indent="0">
              <a:lnSpc>
                <a:spcPct val="110000"/>
              </a:lnSpc>
              <a:buNone/>
            </a:pPr>
            <a:r>
              <a:rPr lang="en-US" sz="1100" b="1" dirty="0">
                <a:solidFill>
                  <a:srgbClr val="F0A98A"/>
                </a:solidFill>
                <a:latin typeface="Calibri" pitchFamily="34" charset="0"/>
                <a:ea typeface="Calibri" pitchFamily="34" charset="-122"/>
                <a:cs typeface="Calibri" pitchFamily="34" charset="-120"/>
              </a:rPr>
              <a:t>Computer Vision &amp; Modeling</a:t>
            </a:r>
            <a:endParaRPr lang="en-US" sz="1100" dirty="0"/>
          </a:p>
        </p:txBody>
      </p:sp>
      <p:sp>
        <p:nvSpPr>
          <p:cNvPr id="11" name="Text 9"/>
          <p:cNvSpPr/>
          <p:nvPr/>
        </p:nvSpPr>
        <p:spPr>
          <a:xfrm>
            <a:off x="3602736" y="2788920"/>
            <a:ext cx="2286000" cy="914400"/>
          </a:xfrm>
          <a:prstGeom prst="rect">
            <a:avLst/>
          </a:prstGeom>
          <a:noFill/>
          <a:ln/>
        </p:spPr>
        <p:txBody>
          <a:bodyPr wrap="square" rtlCol="0" anchor="ctr"/>
          <a:lstStyle/>
          <a:p>
            <a:pPr marL="0" indent="0">
              <a:lnSpc>
                <a:spcPct val="120000"/>
              </a:lnSpc>
              <a:buNone/>
            </a:pPr>
            <a:r>
              <a:rPr lang="en-US" sz="1030" dirty="0">
                <a:solidFill>
                  <a:srgbClr val="C7D3CF"/>
                </a:solidFill>
                <a:latin typeface="Calibri" pitchFamily="34" charset="0"/>
                <a:ea typeface="Calibri" pitchFamily="34" charset="-122"/>
                <a:cs typeface="Calibri" pitchFamily="34" charset="-120"/>
              </a:rPr>
              <a:t>Land-cover classification, segmentation validation.</a:t>
            </a:r>
            <a:endParaRPr lang="en-US" sz="1030" dirty="0"/>
          </a:p>
        </p:txBody>
      </p:sp>
      <p:sp>
        <p:nvSpPr>
          <p:cNvPr id="12" name="Shape 10"/>
          <p:cNvSpPr/>
          <p:nvPr/>
        </p:nvSpPr>
        <p:spPr>
          <a:xfrm>
            <a:off x="6291072" y="1691640"/>
            <a:ext cx="2651760" cy="2103120"/>
          </a:xfrm>
          <a:prstGeom prst="rect">
            <a:avLst/>
          </a:prstGeom>
          <a:solidFill>
            <a:srgbClr val="2A5F4C"/>
          </a:solidFill>
          <a:ln/>
        </p:spPr>
      </p:sp>
      <p:sp>
        <p:nvSpPr>
          <p:cNvPr id="13" name="Text 11"/>
          <p:cNvSpPr/>
          <p:nvPr/>
        </p:nvSpPr>
        <p:spPr>
          <a:xfrm>
            <a:off x="6473952" y="1874520"/>
            <a:ext cx="2286000" cy="32004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Abhay Chaturvedi</a:t>
            </a:r>
            <a:endParaRPr lang="en-US" sz="1350" dirty="0"/>
          </a:p>
        </p:txBody>
      </p:sp>
      <p:sp>
        <p:nvSpPr>
          <p:cNvPr id="14" name="Text 12"/>
          <p:cNvSpPr/>
          <p:nvPr/>
        </p:nvSpPr>
        <p:spPr>
          <a:xfrm>
            <a:off x="6473952" y="2221992"/>
            <a:ext cx="2286000" cy="502920"/>
          </a:xfrm>
          <a:prstGeom prst="rect">
            <a:avLst/>
          </a:prstGeom>
          <a:noFill/>
          <a:ln/>
        </p:spPr>
        <p:txBody>
          <a:bodyPr wrap="square" rtlCol="0" anchor="ctr"/>
          <a:lstStyle/>
          <a:p>
            <a:pPr marL="0" indent="0">
              <a:lnSpc>
                <a:spcPct val="110000"/>
              </a:lnSpc>
              <a:buNone/>
            </a:pPr>
            <a:r>
              <a:rPr lang="en-US" sz="1100" b="1" dirty="0">
                <a:solidFill>
                  <a:srgbClr val="8FC1A8"/>
                </a:solidFill>
                <a:latin typeface="Calibri" pitchFamily="34" charset="0"/>
                <a:ea typeface="Calibri" pitchFamily="34" charset="-122"/>
                <a:cs typeface="Calibri" pitchFamily="34" charset="-120"/>
              </a:rPr>
              <a:t>Data Science &amp; Formula Design</a:t>
            </a:r>
            <a:endParaRPr lang="en-US" sz="1100" dirty="0"/>
          </a:p>
        </p:txBody>
      </p:sp>
      <p:sp>
        <p:nvSpPr>
          <p:cNvPr id="15" name="Text 13"/>
          <p:cNvSpPr/>
          <p:nvPr/>
        </p:nvSpPr>
        <p:spPr>
          <a:xfrm>
            <a:off x="6473952" y="2788920"/>
            <a:ext cx="2286000" cy="914400"/>
          </a:xfrm>
          <a:prstGeom prst="rect">
            <a:avLst/>
          </a:prstGeom>
          <a:noFill/>
          <a:ln/>
        </p:spPr>
        <p:txBody>
          <a:bodyPr wrap="square" rtlCol="0" anchor="ctr"/>
          <a:lstStyle/>
          <a:p>
            <a:pPr marL="0" indent="0">
              <a:lnSpc>
                <a:spcPct val="120000"/>
              </a:lnSpc>
              <a:buNone/>
            </a:pPr>
            <a:r>
              <a:rPr lang="en-US" sz="1030" dirty="0">
                <a:solidFill>
                  <a:srgbClr val="C7D3CF"/>
                </a:solidFill>
                <a:latin typeface="Calibri" pitchFamily="34" charset="0"/>
                <a:ea typeface="Calibri" pitchFamily="34" charset="-122"/>
                <a:cs typeface="Calibri" pitchFamily="34" charset="-120"/>
              </a:rPr>
              <a:t>Entropy weighting, synergy term, scoring validation.</a:t>
            </a:r>
            <a:endParaRPr lang="en-US" sz="1030" dirty="0"/>
          </a:p>
        </p:txBody>
      </p:sp>
      <p:sp>
        <p:nvSpPr>
          <p:cNvPr id="16" name="Shape 14"/>
          <p:cNvSpPr/>
          <p:nvPr/>
        </p:nvSpPr>
        <p:spPr>
          <a:xfrm>
            <a:off x="9162288" y="1691640"/>
            <a:ext cx="2651760" cy="2103120"/>
          </a:xfrm>
          <a:prstGeom prst="rect">
            <a:avLst/>
          </a:prstGeom>
          <a:solidFill>
            <a:srgbClr val="2A5F4C"/>
          </a:solidFill>
          <a:ln/>
        </p:spPr>
      </p:sp>
      <p:sp>
        <p:nvSpPr>
          <p:cNvPr id="17" name="Text 15"/>
          <p:cNvSpPr/>
          <p:nvPr/>
        </p:nvSpPr>
        <p:spPr>
          <a:xfrm>
            <a:off x="9345168" y="1874520"/>
            <a:ext cx="2286000" cy="32004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Abhay Raj </a:t>
            </a:r>
            <a:r>
              <a:rPr lang="en-US" sz="1350" b="1" dirty="0" err="1">
                <a:solidFill>
                  <a:srgbClr val="FFFFFF"/>
                </a:solidFill>
                <a:latin typeface="Calibri" pitchFamily="34" charset="0"/>
                <a:ea typeface="Calibri" pitchFamily="34" charset="-122"/>
                <a:cs typeface="Calibri" pitchFamily="34" charset="-120"/>
              </a:rPr>
              <a:t>Mosaita</a:t>
            </a:r>
            <a:endParaRPr lang="en-US" sz="1350" dirty="0"/>
          </a:p>
        </p:txBody>
      </p:sp>
      <p:sp>
        <p:nvSpPr>
          <p:cNvPr id="18" name="Text 16"/>
          <p:cNvSpPr/>
          <p:nvPr/>
        </p:nvSpPr>
        <p:spPr>
          <a:xfrm>
            <a:off x="9345168" y="2221992"/>
            <a:ext cx="2286000" cy="502920"/>
          </a:xfrm>
          <a:prstGeom prst="rect">
            <a:avLst/>
          </a:prstGeom>
          <a:noFill/>
          <a:ln/>
        </p:spPr>
        <p:txBody>
          <a:bodyPr wrap="square" rtlCol="0" anchor="ctr"/>
          <a:lstStyle/>
          <a:p>
            <a:pPr marL="0" indent="0">
              <a:lnSpc>
                <a:spcPct val="110000"/>
              </a:lnSpc>
              <a:buNone/>
            </a:pPr>
            <a:r>
              <a:rPr lang="en-US" sz="1100" b="1" dirty="0">
                <a:solidFill>
                  <a:srgbClr val="F0A98A"/>
                </a:solidFill>
                <a:latin typeface="Calibri" pitchFamily="34" charset="0"/>
                <a:ea typeface="Calibri" pitchFamily="34" charset="-122"/>
                <a:cs typeface="Calibri" pitchFamily="34" charset="-120"/>
              </a:rPr>
              <a:t>Documentation &amp; NGO Coordination</a:t>
            </a:r>
            <a:endParaRPr lang="en-US" sz="1100" dirty="0"/>
          </a:p>
        </p:txBody>
      </p:sp>
      <p:sp>
        <p:nvSpPr>
          <p:cNvPr id="19" name="Text 17"/>
          <p:cNvSpPr/>
          <p:nvPr/>
        </p:nvSpPr>
        <p:spPr>
          <a:xfrm>
            <a:off x="9345168" y="2788920"/>
            <a:ext cx="2286000" cy="914400"/>
          </a:xfrm>
          <a:prstGeom prst="rect">
            <a:avLst/>
          </a:prstGeom>
          <a:noFill/>
          <a:ln/>
        </p:spPr>
        <p:txBody>
          <a:bodyPr wrap="square" rtlCol="0" anchor="ctr"/>
          <a:lstStyle/>
          <a:p>
            <a:pPr marL="0" indent="0">
              <a:lnSpc>
                <a:spcPct val="120000"/>
              </a:lnSpc>
              <a:buNone/>
            </a:pPr>
            <a:r>
              <a:rPr lang="en-US" sz="1030" dirty="0">
                <a:solidFill>
                  <a:srgbClr val="C7D3CF"/>
                </a:solidFill>
                <a:latin typeface="Calibri" pitchFamily="34" charset="0"/>
                <a:ea typeface="Calibri" pitchFamily="34" charset="-122"/>
                <a:cs typeface="Calibri" pitchFamily="34" charset="-120"/>
              </a:rPr>
              <a:t>Proposal, formula documentation, NGO liaison.</a:t>
            </a:r>
            <a:endParaRPr lang="en-US" sz="1030" dirty="0"/>
          </a:p>
        </p:txBody>
      </p:sp>
      <p:sp>
        <p:nvSpPr>
          <p:cNvPr id="20" name="Shape 18"/>
          <p:cNvSpPr/>
          <p:nvPr/>
        </p:nvSpPr>
        <p:spPr>
          <a:xfrm>
            <a:off x="548640" y="4069080"/>
            <a:ext cx="11091672" cy="2194560"/>
          </a:xfrm>
          <a:prstGeom prst="rect">
            <a:avLst/>
          </a:prstGeom>
          <a:solidFill>
            <a:srgbClr val="2A5F4C"/>
          </a:solidFill>
          <a:ln/>
        </p:spPr>
      </p:sp>
      <p:sp>
        <p:nvSpPr>
          <p:cNvPr id="21" name="Text 19"/>
          <p:cNvSpPr/>
          <p:nvPr/>
        </p:nvSpPr>
        <p:spPr>
          <a:xfrm>
            <a:off x="868680" y="4251960"/>
            <a:ext cx="5486400" cy="274320"/>
          </a:xfrm>
          <a:prstGeom prst="rect">
            <a:avLst/>
          </a:prstGeom>
          <a:noFill/>
          <a:ln/>
        </p:spPr>
        <p:txBody>
          <a:bodyPr wrap="square" rtlCol="0" anchor="ctr"/>
          <a:lstStyle/>
          <a:p>
            <a:pPr marL="0" indent="0">
              <a:buNone/>
            </a:pPr>
            <a:r>
              <a:rPr lang="en-US" sz="1200" b="1" kern="0" spc="150" dirty="0">
                <a:solidFill>
                  <a:srgbClr val="E8622C"/>
                </a:solidFill>
                <a:latin typeface="Calibri" pitchFamily="34" charset="0"/>
                <a:ea typeface="Calibri" pitchFamily="34" charset="-122"/>
                <a:cs typeface="Calibri" pitchFamily="34" charset="-120"/>
              </a:rPr>
              <a:t>NEXT PHASE — TARGETING OCTOBER 2026</a:t>
            </a:r>
            <a:endParaRPr lang="en-US" sz="1200" dirty="0"/>
          </a:p>
        </p:txBody>
      </p:sp>
      <p:sp>
        <p:nvSpPr>
          <p:cNvPr id="22" name="Text 20"/>
          <p:cNvSpPr/>
          <p:nvPr/>
        </p:nvSpPr>
        <p:spPr>
          <a:xfrm>
            <a:off x="868680" y="4590288"/>
            <a:ext cx="10332720" cy="1554480"/>
          </a:xfrm>
          <a:prstGeom prst="rect">
            <a:avLst/>
          </a:prstGeom>
          <a:noFill/>
          <a:ln/>
        </p:spPr>
        <p:txBody>
          <a:bodyPr wrap="square" rtlCol="0" anchor="ctr"/>
          <a:lstStyle/>
          <a:p>
            <a:pPr marL="203200" indent="-203200">
              <a:lnSpc>
                <a:spcPct val="135000"/>
              </a:lnSpc>
              <a:spcAft>
                <a:spcPts val="800"/>
              </a:spcAft>
              <a:buSzPct val="100000"/>
              <a:buChar char="•"/>
            </a:pPr>
            <a:r>
              <a:rPr lang="en-US" sz="1400" dirty="0">
                <a:solidFill>
                  <a:srgbClr val="DCE6E2"/>
                </a:solidFill>
                <a:latin typeface="Calibri" pitchFamily="34" charset="0"/>
                <a:ea typeface="Calibri" pitchFamily="34" charset="-122"/>
                <a:cs typeface="Calibri" pitchFamily="34" charset="-120"/>
              </a:rPr>
              <a:t>Train a proper deep-learning segmentation model (U-Net) on labeled patches.</a:t>
            </a:r>
            <a:endParaRPr lang="en-US" sz="1400" dirty="0"/>
          </a:p>
          <a:p>
            <a:pPr marL="203200" indent="-203200">
              <a:lnSpc>
                <a:spcPct val="135000"/>
              </a:lnSpc>
              <a:spcAft>
                <a:spcPts val="800"/>
              </a:spcAft>
              <a:buSzPct val="100000"/>
              <a:buChar char="•"/>
            </a:pPr>
            <a:r>
              <a:rPr lang="en-US" sz="1400" dirty="0">
                <a:solidFill>
                  <a:srgbClr val="DCE6E2"/>
                </a:solidFill>
                <a:latin typeface="Calibri" pitchFamily="34" charset="0"/>
                <a:ea typeface="Calibri" pitchFamily="34" charset="-122"/>
                <a:cs typeface="Calibri" pitchFamily="34" charset="-120"/>
              </a:rPr>
              <a:t>Wire in live AQI, temperature, water-availability, and population data feeds.</a:t>
            </a:r>
            <a:endParaRPr lang="en-US" sz="1400" dirty="0"/>
          </a:p>
          <a:p>
            <a:pPr marL="203200" indent="-203200">
              <a:lnSpc>
                <a:spcPct val="135000"/>
              </a:lnSpc>
              <a:spcAft>
                <a:spcPts val="800"/>
              </a:spcAft>
              <a:buSzPct val="100000"/>
              <a:buChar char="•"/>
            </a:pPr>
            <a:r>
              <a:rPr lang="en-US" sz="1400" dirty="0">
                <a:solidFill>
                  <a:srgbClr val="DCE6E2"/>
                </a:solidFill>
                <a:latin typeface="Calibri" pitchFamily="34" charset="0"/>
                <a:ea typeface="Calibri" pitchFamily="34" charset="-122"/>
                <a:cs typeface="Calibri" pitchFamily="34" charset="-120"/>
              </a:rPr>
              <a:t>Build the carbon-sink calculator and the web dashboard for SEER Bharat.</a:t>
            </a:r>
            <a:endParaRPr lang="en-US" sz="1400" dirty="0"/>
          </a:p>
        </p:txBody>
      </p:sp>
      <p:sp>
        <p:nvSpPr>
          <p:cNvPr id="23" name="Text 21"/>
          <p:cNvSpPr/>
          <p:nvPr/>
        </p:nvSpPr>
        <p:spPr>
          <a:xfrm>
            <a:off x="11551615" y="6446520"/>
            <a:ext cx="457200" cy="274320"/>
          </a:xfrm>
          <a:prstGeom prst="rect">
            <a:avLst/>
          </a:prstGeom>
          <a:noFill/>
          <a:ln/>
        </p:spPr>
        <p:txBody>
          <a:bodyPr wrap="square" rtlCol="0" anchor="ctr"/>
          <a:lstStyle/>
          <a:p>
            <a:pPr marL="0" indent="0" algn="r">
              <a:buNone/>
            </a:pPr>
            <a:r>
              <a:rPr lang="en-US" sz="900" dirty="0">
                <a:solidFill>
                  <a:srgbClr val="8FA69E"/>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rtlCol="0" anchor="ctr"/>
          <a:lstStyle/>
          <a:p>
            <a:pPr marL="0" indent="0">
              <a:buNone/>
            </a:pPr>
            <a:r>
              <a:rPr lang="en-US" sz="1150" b="1" kern="0" spc="200" dirty="0">
                <a:solidFill>
                  <a:srgbClr val="E8622C"/>
                </a:solidFill>
                <a:latin typeface="Calibri" pitchFamily="34" charset="0"/>
                <a:ea typeface="Calibri" pitchFamily="34" charset="-122"/>
                <a:cs typeface="Calibri" pitchFamily="34" charset="-120"/>
              </a:rPr>
              <a:t>WHAT THIS PHASE TAUGHT US</a:t>
            </a:r>
            <a:endParaRPr lang="en-US" sz="1150" dirty="0"/>
          </a:p>
        </p:txBody>
      </p:sp>
      <p:sp>
        <p:nvSpPr>
          <p:cNvPr id="3" name="Text 1"/>
          <p:cNvSpPr/>
          <p:nvPr/>
        </p:nvSpPr>
        <p:spPr>
          <a:xfrm>
            <a:off x="548640" y="749808"/>
            <a:ext cx="10789920" cy="594360"/>
          </a:xfrm>
          <a:prstGeom prst="rect">
            <a:avLst/>
          </a:prstGeom>
          <a:noFill/>
          <a:ln/>
        </p:spPr>
        <p:txBody>
          <a:bodyPr wrap="square" rtlCol="0" anchor="ctr"/>
          <a:lstStyle/>
          <a:p>
            <a:pPr marL="0" indent="0">
              <a:buNone/>
            </a:pPr>
            <a:r>
              <a:rPr lang="en-US" sz="3000" b="1" dirty="0">
                <a:solidFill>
                  <a:srgbClr val="1A211F"/>
                </a:solidFill>
                <a:latin typeface="Cambria" pitchFamily="34" charset="0"/>
                <a:ea typeface="Cambria" pitchFamily="34" charset="-122"/>
                <a:cs typeface="Cambria" pitchFamily="34" charset="-120"/>
              </a:rPr>
              <a:t>Learning Outcomes &amp; Conclusion</a:t>
            </a:r>
            <a:endParaRPr lang="en-US" sz="3000" dirty="0"/>
          </a:p>
        </p:txBody>
      </p:sp>
      <p:sp>
        <p:nvSpPr>
          <p:cNvPr id="4" name="Shape 2"/>
          <p:cNvSpPr/>
          <p:nvPr/>
        </p:nvSpPr>
        <p:spPr>
          <a:xfrm>
            <a:off x="548640" y="1691640"/>
            <a:ext cx="5349240" cy="2834640"/>
          </a:xfrm>
          <a:prstGeom prst="rect">
            <a:avLst/>
          </a:prstGeom>
          <a:solidFill>
            <a:srgbClr val="EEF2F0"/>
          </a:solidFill>
          <a:ln/>
        </p:spPr>
      </p:sp>
      <p:sp>
        <p:nvSpPr>
          <p:cNvPr id="5" name="Text 3"/>
          <p:cNvSpPr/>
          <p:nvPr/>
        </p:nvSpPr>
        <p:spPr>
          <a:xfrm>
            <a:off x="868680" y="1920240"/>
            <a:ext cx="4572000" cy="274320"/>
          </a:xfrm>
          <a:prstGeom prst="rect">
            <a:avLst/>
          </a:prstGeom>
          <a:noFill/>
          <a:ln/>
        </p:spPr>
        <p:txBody>
          <a:bodyPr wrap="square" rtlCol="0" anchor="ctr"/>
          <a:lstStyle/>
          <a:p>
            <a:pPr marL="0" indent="0">
              <a:buNone/>
            </a:pPr>
            <a:r>
              <a:rPr lang="en-US" sz="1250" b="1" kern="0" spc="150" dirty="0">
                <a:solidFill>
                  <a:srgbClr val="4E9C77"/>
                </a:solidFill>
                <a:latin typeface="Calibri" pitchFamily="34" charset="0"/>
                <a:ea typeface="Calibri" pitchFamily="34" charset="-122"/>
                <a:cs typeface="Calibri" pitchFamily="34" charset="-120"/>
              </a:rPr>
              <a:t>TECHNICAL LEARNING</a:t>
            </a:r>
            <a:endParaRPr lang="en-US" sz="1250" dirty="0"/>
          </a:p>
        </p:txBody>
      </p:sp>
      <p:sp>
        <p:nvSpPr>
          <p:cNvPr id="6" name="Text 4"/>
          <p:cNvSpPr/>
          <p:nvPr/>
        </p:nvSpPr>
        <p:spPr>
          <a:xfrm>
            <a:off x="868680" y="2331720"/>
            <a:ext cx="4846320" cy="2103120"/>
          </a:xfrm>
          <a:prstGeom prst="rect">
            <a:avLst/>
          </a:prstGeom>
          <a:noFill/>
          <a:ln/>
        </p:spPr>
        <p:txBody>
          <a:bodyPr wrap="square" rtlCol="0" anchor="ctr"/>
          <a:lstStyle/>
          <a:p>
            <a:pPr marL="203200" indent="-203200">
              <a:lnSpc>
                <a:spcPct val="130000"/>
              </a:lnSpc>
              <a:spcAft>
                <a:spcPts val="800"/>
              </a:spcAft>
              <a:buSzPct val="100000"/>
              <a:buChar char="•"/>
            </a:pPr>
            <a:r>
              <a:rPr lang="en-US" sz="1300" dirty="0">
                <a:solidFill>
                  <a:srgbClr val="1A211F"/>
                </a:solidFill>
                <a:latin typeface="Calibri" pitchFamily="34" charset="0"/>
                <a:ea typeface="Calibri" pitchFamily="34" charset="-122"/>
                <a:cs typeface="Calibri" pitchFamily="34" charset="-120"/>
              </a:rPr>
              <a:t>Geospatial data engineering with Google Earth Engine.</a:t>
            </a:r>
            <a:endParaRPr lang="en-US" sz="1300" dirty="0"/>
          </a:p>
          <a:p>
            <a:pPr marL="203200" indent="-203200">
              <a:lnSpc>
                <a:spcPct val="130000"/>
              </a:lnSpc>
              <a:spcAft>
                <a:spcPts val="800"/>
              </a:spcAft>
              <a:buSzPct val="100000"/>
              <a:buChar char="•"/>
            </a:pPr>
            <a:r>
              <a:rPr lang="en-US" sz="1300" dirty="0">
                <a:solidFill>
                  <a:srgbClr val="1A211F"/>
                </a:solidFill>
                <a:latin typeface="Calibri" pitchFamily="34" charset="0"/>
                <a:ea typeface="Calibri" pitchFamily="34" charset="-122"/>
                <a:cs typeface="Calibri" pitchFamily="34" charset="-120"/>
              </a:rPr>
              <a:t>Satellite image processing and NDVI analysis.</a:t>
            </a:r>
            <a:endParaRPr lang="en-US" sz="1300" dirty="0"/>
          </a:p>
          <a:p>
            <a:pPr marL="203200" indent="-203200">
              <a:lnSpc>
                <a:spcPct val="130000"/>
              </a:lnSpc>
              <a:spcAft>
                <a:spcPts val="800"/>
              </a:spcAft>
              <a:buSzPct val="100000"/>
              <a:buChar char="•"/>
            </a:pPr>
            <a:r>
              <a:rPr lang="en-US" sz="1300" dirty="0">
                <a:solidFill>
                  <a:srgbClr val="1A211F"/>
                </a:solidFill>
                <a:latin typeface="Calibri" pitchFamily="34" charset="0"/>
                <a:ea typeface="Calibri" pitchFamily="34" charset="-122"/>
                <a:cs typeface="Calibri" pitchFamily="34" charset="-120"/>
              </a:rPr>
              <a:t>OpenStreetMap spatial data integration.</a:t>
            </a:r>
            <a:endParaRPr lang="en-US" sz="1300" dirty="0"/>
          </a:p>
          <a:p>
            <a:pPr marL="203200" indent="-203200">
              <a:lnSpc>
                <a:spcPct val="130000"/>
              </a:lnSpc>
              <a:spcAft>
                <a:spcPts val="800"/>
              </a:spcAft>
              <a:buSzPct val="100000"/>
              <a:buChar char="•"/>
            </a:pPr>
            <a:r>
              <a:rPr lang="en-US" sz="1300" dirty="0">
                <a:solidFill>
                  <a:srgbClr val="1A211F"/>
                </a:solidFill>
                <a:latin typeface="Calibri" pitchFamily="34" charset="0"/>
                <a:ea typeface="Calibri" pitchFamily="34" charset="-122"/>
                <a:cs typeface="Calibri" pitchFamily="34" charset="-120"/>
              </a:rPr>
              <a:t>Entropy-based multi-criteria scoring design.</a:t>
            </a:r>
            <a:endParaRPr lang="en-US" sz="1300" dirty="0"/>
          </a:p>
        </p:txBody>
      </p:sp>
      <p:sp>
        <p:nvSpPr>
          <p:cNvPr id="7" name="Shape 5"/>
          <p:cNvSpPr/>
          <p:nvPr/>
        </p:nvSpPr>
        <p:spPr>
          <a:xfrm>
            <a:off x="6263640" y="1691640"/>
            <a:ext cx="5349240" cy="2834640"/>
          </a:xfrm>
          <a:prstGeom prst="rect">
            <a:avLst/>
          </a:prstGeom>
          <a:solidFill>
            <a:srgbClr val="EEF2F0"/>
          </a:solidFill>
          <a:ln/>
        </p:spPr>
      </p:sp>
      <p:sp>
        <p:nvSpPr>
          <p:cNvPr id="8" name="Text 6"/>
          <p:cNvSpPr/>
          <p:nvPr/>
        </p:nvSpPr>
        <p:spPr>
          <a:xfrm>
            <a:off x="6583680" y="1920240"/>
            <a:ext cx="4572000" cy="274320"/>
          </a:xfrm>
          <a:prstGeom prst="rect">
            <a:avLst/>
          </a:prstGeom>
          <a:noFill/>
          <a:ln/>
        </p:spPr>
        <p:txBody>
          <a:bodyPr wrap="square" rtlCol="0" anchor="ctr"/>
          <a:lstStyle/>
          <a:p>
            <a:pPr marL="0" indent="0">
              <a:buNone/>
            </a:pPr>
            <a:r>
              <a:rPr lang="en-US" sz="1250" b="1" kern="0" spc="150" dirty="0">
                <a:solidFill>
                  <a:srgbClr val="E8622C"/>
                </a:solidFill>
                <a:latin typeface="Calibri" pitchFamily="34" charset="0"/>
                <a:ea typeface="Calibri" pitchFamily="34" charset="-122"/>
                <a:cs typeface="Calibri" pitchFamily="34" charset="-120"/>
              </a:rPr>
              <a:t>COMMUNITY LEARNING</a:t>
            </a:r>
            <a:endParaRPr lang="en-US" sz="1250" dirty="0"/>
          </a:p>
        </p:txBody>
      </p:sp>
      <p:sp>
        <p:nvSpPr>
          <p:cNvPr id="9" name="Text 7"/>
          <p:cNvSpPr/>
          <p:nvPr/>
        </p:nvSpPr>
        <p:spPr>
          <a:xfrm>
            <a:off x="6583680" y="2331720"/>
            <a:ext cx="4846320" cy="2103120"/>
          </a:xfrm>
          <a:prstGeom prst="rect">
            <a:avLst/>
          </a:prstGeom>
          <a:noFill/>
          <a:ln/>
        </p:spPr>
        <p:txBody>
          <a:bodyPr wrap="square" rtlCol="0" anchor="ctr"/>
          <a:lstStyle/>
          <a:p>
            <a:pPr marL="203200" indent="-203200">
              <a:lnSpc>
                <a:spcPct val="130000"/>
              </a:lnSpc>
              <a:spcAft>
                <a:spcPts val="800"/>
              </a:spcAft>
              <a:buSzPct val="100000"/>
              <a:buChar char="•"/>
            </a:pPr>
            <a:r>
              <a:rPr lang="en-US" sz="1300" dirty="0">
                <a:solidFill>
                  <a:srgbClr val="1A211F"/>
                </a:solidFill>
                <a:latin typeface="Calibri" pitchFamily="34" charset="0"/>
                <a:ea typeface="Calibri" pitchFamily="34" charset="-122"/>
                <a:cs typeface="Calibri" pitchFamily="34" charset="-120"/>
              </a:rPr>
              <a:t>Direct collaboration with a real NGO partner.</a:t>
            </a:r>
            <a:endParaRPr lang="en-US" sz="1300" dirty="0"/>
          </a:p>
          <a:p>
            <a:pPr marL="203200" indent="-203200">
              <a:lnSpc>
                <a:spcPct val="130000"/>
              </a:lnSpc>
              <a:spcAft>
                <a:spcPts val="800"/>
              </a:spcAft>
              <a:buSzPct val="100000"/>
              <a:buChar char="•"/>
            </a:pPr>
            <a:r>
              <a:rPr lang="en-US" sz="1300" dirty="0">
                <a:solidFill>
                  <a:srgbClr val="1A211F"/>
                </a:solidFill>
                <a:latin typeface="Calibri" pitchFamily="34" charset="0"/>
                <a:ea typeface="Calibri" pitchFamily="34" charset="-122"/>
                <a:cs typeface="Calibri" pitchFamily="34" charset="-120"/>
              </a:rPr>
              <a:t>Translating a conservation problem into a technical system.</a:t>
            </a:r>
            <a:endParaRPr lang="en-US" sz="1300" dirty="0"/>
          </a:p>
          <a:p>
            <a:pPr marL="203200" indent="-203200">
              <a:lnSpc>
                <a:spcPct val="130000"/>
              </a:lnSpc>
              <a:spcAft>
                <a:spcPts val="800"/>
              </a:spcAft>
              <a:buSzPct val="100000"/>
              <a:buChar char="•"/>
            </a:pPr>
            <a:r>
              <a:rPr lang="en-US" sz="1300" dirty="0">
                <a:solidFill>
                  <a:srgbClr val="1A211F"/>
                </a:solidFill>
                <a:latin typeface="Calibri" pitchFamily="34" charset="0"/>
                <a:ea typeface="Calibri" pitchFamily="34" charset="-122"/>
                <a:cs typeface="Calibri" pitchFamily="34" charset="-120"/>
              </a:rPr>
              <a:t>Presenting technical work to a non-technical audience.</a:t>
            </a:r>
            <a:endParaRPr lang="en-US" sz="1300" dirty="0"/>
          </a:p>
          <a:p>
            <a:pPr marL="203200" indent="-203200">
              <a:lnSpc>
                <a:spcPct val="130000"/>
              </a:lnSpc>
              <a:spcAft>
                <a:spcPts val="800"/>
              </a:spcAft>
              <a:buSzPct val="100000"/>
              <a:buChar char="•"/>
            </a:pPr>
            <a:r>
              <a:rPr lang="en-US" sz="1300" dirty="0">
                <a:solidFill>
                  <a:srgbClr val="1A211F"/>
                </a:solidFill>
                <a:latin typeface="Calibri" pitchFamily="34" charset="0"/>
                <a:ea typeface="Calibri" pitchFamily="34" charset="-122"/>
                <a:cs typeface="Calibri" pitchFamily="34" charset="-120"/>
              </a:rPr>
              <a:t>Coordinating a four-person team across weekly cycles.</a:t>
            </a:r>
            <a:endParaRPr lang="en-US" sz="1300" dirty="0"/>
          </a:p>
        </p:txBody>
      </p:sp>
      <p:sp>
        <p:nvSpPr>
          <p:cNvPr id="10" name="Shape 8"/>
          <p:cNvSpPr/>
          <p:nvPr/>
        </p:nvSpPr>
        <p:spPr>
          <a:xfrm>
            <a:off x="548640" y="4800600"/>
            <a:ext cx="11091672" cy="1280160"/>
          </a:xfrm>
          <a:prstGeom prst="rect">
            <a:avLst/>
          </a:prstGeom>
          <a:solidFill>
            <a:srgbClr val="1E4D3D"/>
          </a:solidFill>
          <a:ln/>
        </p:spPr>
      </p:sp>
      <p:sp>
        <p:nvSpPr>
          <p:cNvPr id="11" name="Text 9"/>
          <p:cNvSpPr/>
          <p:nvPr/>
        </p:nvSpPr>
        <p:spPr>
          <a:xfrm>
            <a:off x="868680" y="4800600"/>
            <a:ext cx="10424160" cy="1280160"/>
          </a:xfrm>
          <a:prstGeom prst="rect">
            <a:avLst/>
          </a:prstGeom>
          <a:noFill/>
          <a:ln/>
        </p:spPr>
        <p:txBody>
          <a:bodyPr wrap="square" rtlCol="0" anchor="ctr"/>
          <a:lstStyle/>
          <a:p>
            <a:pPr marL="0" indent="0">
              <a:lnSpc>
                <a:spcPct val="130000"/>
              </a:lnSpc>
              <a:buNone/>
            </a:pPr>
            <a:r>
              <a:rPr lang="en-US" sz="1450" i="1" dirty="0">
                <a:solidFill>
                  <a:srgbClr val="FFFFFF"/>
                </a:solidFill>
                <a:latin typeface="Calibri" pitchFamily="34" charset="0"/>
                <a:ea typeface="Calibri" pitchFamily="34" charset="-122"/>
                <a:cs typeface="Calibri" pitchFamily="34" charset="-120"/>
              </a:rPr>
              <a:t>This phase moved UEHIS from architecture-on-paper to a verified, working pilot on real data, a genuine step toward a system that can meaningfully support SEER Bharat Foundation's conservation work in Pune.</a:t>
            </a:r>
            <a:endParaRPr lang="en-US" sz="1450" dirty="0"/>
          </a:p>
        </p:txBody>
      </p:sp>
      <p:sp>
        <p:nvSpPr>
          <p:cNvPr id="12" name="Text 10"/>
          <p:cNvSpPr/>
          <p:nvPr/>
        </p:nvSpPr>
        <p:spPr>
          <a:xfrm>
            <a:off x="11551615" y="6446520"/>
            <a:ext cx="457200" cy="274320"/>
          </a:xfrm>
          <a:prstGeom prst="rect">
            <a:avLst/>
          </a:prstGeom>
          <a:noFill/>
          <a:ln/>
        </p:spPr>
        <p:txBody>
          <a:bodyPr wrap="square" rtlCol="0" anchor="ctr"/>
          <a:lstStyle/>
          <a:p>
            <a:pPr marL="0" indent="0" algn="r">
              <a:buNone/>
            </a:pPr>
            <a:r>
              <a:rPr lang="en-US" sz="900" dirty="0">
                <a:solidFill>
                  <a:srgbClr val="5B6B66"/>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1456</Words>
  <Application>Microsoft Office PowerPoint</Application>
  <PresentationFormat>Widescreen</PresentationFormat>
  <Paragraphs>212</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Aditya.Godar.Btech2024</cp:lastModifiedBy>
  <cp:revision>2</cp:revision>
  <dcterms:created xsi:type="dcterms:W3CDTF">2026-08-12T04:58:38Z</dcterms:created>
  <dcterms:modified xsi:type="dcterms:W3CDTF">2026-08-12T05:22:57Z</dcterms:modified>
</cp:coreProperties>
</file>